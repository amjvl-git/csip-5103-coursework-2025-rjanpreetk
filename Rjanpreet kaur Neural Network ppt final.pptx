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61" r:id="rId7"/>
    <p:sldId id="270" r:id="rId8"/>
    <p:sldId id="272" r:id="rId9"/>
    <p:sldId id="274" r:id="rId10"/>
    <p:sldId id="262" r:id="rId11"/>
    <p:sldId id="275" r:id="rId12"/>
    <p:sldId id="276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14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2409" y="1173822"/>
            <a:ext cx="7772400" cy="14700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 descr="Fashion Bits: Fashion Trend: Head Scarves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  <a14:imgEffect>
                      <a14:sharpenSoften amount="-36000"/>
                    </a14:imgEffect>
                    <a14:imgEffect>
                      <a14:saturation sat="107000"/>
                    </a14:imgEffect>
                    <a14:imgEffect>
                      <a14:brightnessContrast bright="1000" contras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alpha val="0"/>
              </a:schemeClr>
            </a:solidFill>
          </a:ln>
          <a:effectLst>
            <a:outerShdw blurRad="1270000" dist="50800" dir="5400000" algn="ctr" rotWithShape="0">
              <a:srgbClr val="000000">
                <a:alpha val="0"/>
              </a:srgbClr>
            </a:outerShdw>
            <a:reflection blurRad="1206500" stA="0" endPos="65000" dist="38100" dir="5400000" sy="-100000" algn="bl" rotWithShape="0"/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409" y="1173822"/>
            <a:ext cx="7772400" cy="1470025"/>
          </a:xfrm>
        </p:spPr>
        <p:txBody>
          <a:bodyPr>
            <a:normAutofit/>
          </a:bodyPr>
          <a:lstStyle/>
          <a:p>
            <a:endParaRPr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9126" y="3918857"/>
            <a:ext cx="5076874" cy="171994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Rjanpreet </a:t>
            </a:r>
            <a:r>
              <a:rPr b="1" dirty="0" smtClean="0">
                <a:solidFill>
                  <a:schemeClr val="tx1"/>
                </a:solidFill>
              </a:rPr>
              <a:t>Kaur</a:t>
            </a:r>
            <a:r>
              <a:rPr lang="en-US" b="1" dirty="0" smtClean="0">
                <a:solidFill>
                  <a:schemeClr val="tx1"/>
                </a:solidFill>
              </a:rPr>
              <a:t/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student id:- 2953262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b="1" dirty="0" smtClean="0">
                <a:solidFill>
                  <a:schemeClr val="tx1"/>
                </a:solidFill>
              </a:rPr>
              <a:t>MSc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  <a:r>
              <a:rPr b="1" dirty="0" smtClean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Artificial </a:t>
            </a:r>
            <a:r>
              <a:rPr b="1" dirty="0" smtClean="0">
                <a:solidFill>
                  <a:schemeClr val="tx1"/>
                </a:solidFill>
              </a:rPr>
              <a:t>Intelligence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2409" y="1116208"/>
            <a:ext cx="7772400" cy="15507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</a:rPr>
              <a:t>Fashion-MNIST Image Classification using Deep Learning</a:t>
            </a:r>
            <a:endParaRPr lang="en-IN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523" y="1600200"/>
            <a:ext cx="5001065" cy="452596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sz="2800" dirty="0"/>
              <a:t>Fashion-MNIST is a dataset of grayscale clothing images (10 categories).</a:t>
            </a:r>
          </a:p>
          <a:p>
            <a:r>
              <a:rPr sz="2800" dirty="0"/>
              <a:t>Project goal: classify clothing images using deep learning architectures.</a:t>
            </a:r>
          </a:p>
          <a:p>
            <a:r>
              <a:rPr sz="2800" dirty="0"/>
              <a:t>Chosen for benchmarking visual classification performance.</a:t>
            </a:r>
          </a:p>
          <a:p>
            <a:r>
              <a:rPr sz="2800" dirty="0"/>
              <a:t>Problem: improving accuracy across model complexity levels.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0" y="1771198"/>
            <a:ext cx="3812345" cy="41839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1143000"/>
          </a:xfr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dirty="0"/>
              <a:t>Objectives /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7988300" cy="4525963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Train and compare three architectures: MLP, CNN, and </a:t>
            </a:r>
            <a:r>
              <a:rPr lang="en-US" dirty="0" smtClean="0"/>
              <a:t>convNexT</a:t>
            </a:r>
            <a:r>
              <a:rPr dirty="0" smtClean="0"/>
              <a:t>-Tiny</a:t>
            </a:r>
            <a:r>
              <a:rPr dirty="0"/>
              <a:t>.</a:t>
            </a:r>
          </a:p>
          <a:p>
            <a:r>
              <a:rPr dirty="0"/>
              <a:t>Achieve over 90% accuracy using transfer learning.</a:t>
            </a:r>
          </a:p>
          <a:p>
            <a:r>
              <a:rPr dirty="0"/>
              <a:t>Analyze performance using confusion </a:t>
            </a:r>
            <a:r>
              <a:rPr lang="en-US" dirty="0" smtClean="0"/>
              <a:t>metrics</a:t>
            </a:r>
            <a:r>
              <a:rPr dirty="0" smtClean="0"/>
              <a:t> </a:t>
            </a:r>
            <a:r>
              <a:rPr dirty="0"/>
              <a:t>and per-class metrics.</a:t>
            </a:r>
          </a:p>
          <a:p>
            <a:r>
              <a:rPr dirty="0"/>
              <a:t>Identify model strengths and weaknesses.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en-US" dirty="0" smtClean="0"/>
              <a:t>METHODOLOGY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16100"/>
            <a:ext cx="8229600" cy="4310063"/>
          </a:xfrm>
        </p:spPr>
        <p:txBody>
          <a:bodyPr>
            <a:normAutofit fontScale="77500" lnSpcReduction="20000"/>
          </a:bodyPr>
          <a:lstStyle/>
          <a:p>
            <a:r>
              <a:rPr b="1" dirty="0"/>
              <a:t>Dataset</a:t>
            </a:r>
            <a:r>
              <a:rPr dirty="0"/>
              <a:t>: Fashion-MNIST (60,000 train + 10,000 test samples</a:t>
            </a:r>
            <a:r>
              <a:rPr dirty="0" smtClean="0"/>
              <a:t>).</a:t>
            </a:r>
            <a:endParaRPr lang="en-US" dirty="0" smtClean="0"/>
          </a:p>
          <a:p>
            <a:r>
              <a:rPr lang="en-US" b="1" dirty="0"/>
              <a:t>Framework</a:t>
            </a:r>
            <a:r>
              <a:rPr lang="en-US" dirty="0"/>
              <a:t>: PyTorch and torchvision for model training</a:t>
            </a:r>
            <a:r>
              <a:rPr lang="en-US" dirty="0" smtClean="0"/>
              <a:t>.</a:t>
            </a:r>
            <a:endParaRPr dirty="0"/>
          </a:p>
          <a:p>
            <a:r>
              <a:rPr b="1" dirty="0"/>
              <a:t>Split</a:t>
            </a:r>
            <a:r>
              <a:rPr dirty="0"/>
              <a:t>: 80% training, 20% validation.</a:t>
            </a:r>
          </a:p>
          <a:p>
            <a:r>
              <a:rPr dirty="0"/>
              <a:t>Applied data augmentation and normalization</a:t>
            </a:r>
            <a:r>
              <a:rPr dirty="0" smtClean="0"/>
              <a:t>.</a:t>
            </a:r>
            <a:endParaRPr lang="en-US" dirty="0" smtClean="0"/>
          </a:p>
          <a:p>
            <a:pPr algn="just"/>
            <a:r>
              <a:rPr lang="en-US" b="1" dirty="0"/>
              <a:t>Models</a:t>
            </a:r>
            <a:r>
              <a:rPr lang="en-US" dirty="0" smtClean="0"/>
              <a:t>: Simple MLP, Simple CNN, and ConvNeXt-Tiny (transfer learning).</a:t>
            </a:r>
            <a:endParaRPr lang="en-US" dirty="0"/>
          </a:p>
          <a:p>
            <a:pPr algn="just"/>
            <a:r>
              <a:rPr lang="en-US" b="1" dirty="0"/>
              <a:t>Training</a:t>
            </a:r>
            <a:r>
              <a:rPr lang="en-US" dirty="0"/>
              <a:t>: </a:t>
            </a:r>
            <a:r>
              <a:rPr lang="en-US" dirty="0" smtClean="0"/>
              <a:t>AdamW /SGD </a:t>
            </a:r>
            <a:r>
              <a:rPr lang="en-US" dirty="0"/>
              <a:t>optimizers with LR scheduling.</a:t>
            </a:r>
          </a:p>
          <a:p>
            <a:r>
              <a:rPr b="1" dirty="0" smtClean="0"/>
              <a:t>Workflow</a:t>
            </a:r>
            <a:r>
              <a:rPr dirty="0"/>
              <a:t>: Dataset → Preprocessing → Model Training → Evaluation</a:t>
            </a:r>
            <a:r>
              <a:rPr dirty="0" smtClean="0"/>
              <a:t>.</a:t>
            </a:r>
            <a:endParaRPr lang="en-US" dirty="0" smtClean="0"/>
          </a:p>
          <a:p>
            <a:r>
              <a:rPr lang="fr-FR" b="1" dirty="0"/>
              <a:t>Evaluation</a:t>
            </a:r>
            <a:r>
              <a:rPr lang="fr-FR" dirty="0"/>
              <a:t>: </a:t>
            </a:r>
            <a:r>
              <a:rPr lang="fr-FR" dirty="0" smtClean="0"/>
              <a:t>accuracy</a:t>
            </a:r>
            <a:r>
              <a:rPr lang="fr-FR" dirty="0"/>
              <a:t>, confusion matrix, classification report</a:t>
            </a:r>
            <a:r>
              <a:rPr lang="fr-FR" dirty="0" smtClean="0"/>
              <a:t>.</a:t>
            </a:r>
          </a:p>
          <a:p>
            <a:endParaRPr lang="fr-FR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413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Content Placeholder 5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82625"/>
            <a:ext cx="8229600" cy="5486400"/>
          </a:xfrm>
        </p:spPr>
      </p:pic>
      <p:grpSp>
        <p:nvGrpSpPr>
          <p:cNvPr id="5" name="Canvas 52"/>
          <p:cNvGrpSpPr/>
          <p:nvPr/>
        </p:nvGrpSpPr>
        <p:grpSpPr>
          <a:xfrm>
            <a:off x="457201" y="183960"/>
            <a:ext cx="8182116" cy="6366894"/>
            <a:chOff x="-81658" y="0"/>
            <a:chExt cx="6410703" cy="8846820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6329045" cy="884682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7" name="Rectangle: Rounded Corners 614939727"/>
            <p:cNvSpPr>
              <a:spLocks noChangeArrowheads="1"/>
            </p:cNvSpPr>
            <p:nvPr/>
          </p:nvSpPr>
          <p:spPr bwMode="auto">
            <a:xfrm>
              <a:off x="-81658" y="179999"/>
              <a:ext cx="2184779" cy="8430619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accent6">
                  <a:lumMod val="75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marR="459105" algn="ctr">
                <a:lnSpc>
                  <a:spcPct val="105000"/>
                </a:lnSpc>
                <a:spcAft>
                  <a:spcPts val="800"/>
                </a:spcAft>
              </a:pPr>
              <a:r>
                <a: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 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: Rounded Corners 1268425222"/>
            <p:cNvSpPr>
              <a:spLocks noChangeArrowheads="1"/>
            </p:cNvSpPr>
            <p:nvPr/>
          </p:nvSpPr>
          <p:spPr bwMode="auto">
            <a:xfrm>
              <a:off x="134201" y="600502"/>
              <a:ext cx="1801217" cy="71920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100000"/>
                <a:lumOff val="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dirty="0" smtClean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Fashion MNIST</a:t>
              </a:r>
              <a:endParaRPr lang="en-IN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: Rounded Corners 2086484830"/>
            <p:cNvSpPr>
              <a:spLocks noChangeArrowheads="1"/>
            </p:cNvSpPr>
            <p:nvPr/>
          </p:nvSpPr>
          <p:spPr bwMode="auto">
            <a:xfrm>
              <a:off x="2290722" y="180002"/>
              <a:ext cx="2006919" cy="5392159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accent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05000"/>
                </a:lnSpc>
                <a:spcAft>
                  <a:spcPts val="800"/>
                </a:spcAft>
              </a:pPr>
              <a:r>
                <a: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 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2446023" y="332401"/>
              <a:ext cx="1745017" cy="444802"/>
            </a:xfrm>
            <a:prstGeom prst="rect">
              <a:avLst/>
            </a:prstGeom>
            <a:solidFill>
              <a:schemeClr val="accent6">
                <a:lumMod val="100000"/>
                <a:lumOff val="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US" sz="11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DATA PREPROCESSING</a:t>
              </a:r>
              <a:endParaRPr lang="en-IN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371964" y="3824555"/>
              <a:ext cx="1844118" cy="414001"/>
            </a:xfrm>
            <a:prstGeom prst="rect">
              <a:avLst/>
            </a:prstGeom>
            <a:solidFill>
              <a:schemeClr val="accent2">
                <a:lumMod val="75000"/>
                <a:lumOff val="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US" sz="1400" b="1" dirty="0" smtClean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Model Training</a:t>
              </a:r>
              <a:endParaRPr lang="en-IN" sz="140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407064" y="4700011"/>
              <a:ext cx="1844118" cy="41400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US" sz="1400" b="1" dirty="0" smtClean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Model Evaluation</a:t>
              </a:r>
              <a:endPara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2460573" y="1368411"/>
              <a:ext cx="1714516" cy="373101"/>
            </a:xfrm>
            <a:prstGeom prst="rect">
              <a:avLst/>
            </a:prstGeom>
            <a:solidFill>
              <a:schemeClr val="accent5">
                <a:lumMod val="75000"/>
                <a:lumOff val="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US" sz="11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DATA SPLITTING</a:t>
              </a:r>
              <a:endParaRPr lang="en-IN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Flowchart: Magnetic Disk 24"/>
            <p:cNvSpPr>
              <a:spLocks noChangeArrowheads="1"/>
            </p:cNvSpPr>
            <p:nvPr/>
          </p:nvSpPr>
          <p:spPr bwMode="auto">
            <a:xfrm>
              <a:off x="2430716" y="1996801"/>
              <a:ext cx="865808" cy="762002"/>
            </a:xfrm>
            <a:prstGeom prst="flowChartMagneticDisk">
              <a:avLst/>
            </a:prstGeom>
            <a:solidFill>
              <a:schemeClr val="accent2">
                <a:lumMod val="100000"/>
                <a:lumOff val="0"/>
              </a:schemeClr>
            </a:solidFill>
            <a:ln>
              <a:noFill/>
            </a:ln>
            <a:effectLst>
              <a:outerShdw dist="27940" dir="5400000" algn="ctr" rotWithShape="0">
                <a:srgbClr val="000000">
                  <a:alpha val="31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IN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TRAIN </a:t>
              </a:r>
              <a:r>
                <a:rPr lang="en-IN" sz="1100" dirty="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80</a:t>
              </a:r>
              <a:r>
                <a:rPr lang="en-IN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%</a:t>
              </a:r>
            </a:p>
          </p:txBody>
        </p:sp>
        <p:sp>
          <p:nvSpPr>
            <p:cNvPr id="27" name="Flowchart: Magnetic Disk 26"/>
            <p:cNvSpPr>
              <a:spLocks noChangeArrowheads="1"/>
            </p:cNvSpPr>
            <p:nvPr/>
          </p:nvSpPr>
          <p:spPr bwMode="auto">
            <a:xfrm>
              <a:off x="3359674" y="2033585"/>
              <a:ext cx="891508" cy="762002"/>
            </a:xfrm>
            <a:prstGeom prst="flowChartMagneticDisk">
              <a:avLst/>
            </a:prstGeom>
            <a:solidFill>
              <a:schemeClr val="accent2">
                <a:lumMod val="100000"/>
                <a:lumOff val="0"/>
              </a:schemeClr>
            </a:solidFill>
            <a:ln>
              <a:noFill/>
            </a:ln>
            <a:effectLst>
              <a:outerShdw dist="27940" dir="5400000" algn="ctr" rotWithShape="0">
                <a:srgbClr val="000000">
                  <a:alpha val="31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IN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VAL </a:t>
              </a:r>
              <a:r>
                <a:rPr lang="en-IN" sz="1100" dirty="0" smtClean="0"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20</a:t>
              </a:r>
              <a:r>
                <a:rPr lang="en-IN" sz="1100" dirty="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%</a:t>
              </a:r>
              <a:endParaRPr lang="en-IN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: Rounded Corners 1817190739"/>
            <p:cNvSpPr>
              <a:spLocks noChangeArrowheads="1"/>
            </p:cNvSpPr>
            <p:nvPr/>
          </p:nvSpPr>
          <p:spPr bwMode="auto">
            <a:xfrm>
              <a:off x="2335422" y="6011359"/>
              <a:ext cx="2006619" cy="2374005"/>
            </a:xfrm>
            <a:prstGeom prst="roundRect">
              <a:avLst>
                <a:gd name="adj" fmla="val 16667"/>
              </a:avLst>
            </a:prstGeom>
            <a:solidFill>
              <a:srgbClr val="69D989"/>
            </a:solidFill>
            <a:ln w="12700">
              <a:solidFill>
                <a:schemeClr val="accent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05000"/>
                </a:lnSpc>
                <a:spcAft>
                  <a:spcPts val="800"/>
                </a:spcAft>
              </a:pPr>
              <a:r>
                <a: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 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2420323" y="6202613"/>
              <a:ext cx="1844018" cy="41410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US" sz="1100" b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CLASIFIER USED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2455973" y="6764387"/>
              <a:ext cx="1676416" cy="1508703"/>
            </a:xfrm>
            <a:prstGeom prst="rect">
              <a:avLst/>
            </a:prstGeom>
            <a:solidFill>
              <a:schemeClr val="accent4">
                <a:lumMod val="75000"/>
                <a:lumOff val="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7000"/>
                </a:lnSpc>
              </a:pPr>
              <a:r>
                <a:rPr lang="en-US" sz="1600" b="1" dirty="0" smtClean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ANN</a:t>
              </a:r>
              <a:br>
                <a:rPr lang="en-US" sz="1600" b="1" dirty="0" smtClean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600" b="1" dirty="0" smtClean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CNN</a:t>
              </a:r>
              <a:br>
                <a:rPr lang="en-US" sz="1600" b="1" dirty="0" smtClean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IN" sz="2000" b="1" dirty="0">
                  <a:solidFill>
                    <a:schemeClr val="accent2">
                      <a:lumMod val="20000"/>
                      <a:lumOff val="80000"/>
                    </a:schemeClr>
                  </a:solidFill>
                </a:rPr>
                <a:t> </a:t>
              </a:r>
              <a:r>
                <a:rPr lang="en-IN" sz="1600" b="1" dirty="0">
                  <a:solidFill>
                    <a:schemeClr val="accent2">
                      <a:lumMod val="20000"/>
                      <a:lumOff val="80000"/>
                    </a:schemeClr>
                  </a:solidFill>
                </a:rPr>
                <a:t>ConvNeXt-Tiny</a:t>
              </a:r>
            </a:p>
            <a:p>
              <a:pPr algn="ctr">
                <a:lnSpc>
                  <a:spcPct val="107000"/>
                </a:lnSpc>
                <a:spcAft>
                  <a:spcPts val="0"/>
                </a:spcAft>
              </a:pPr>
              <a:endParaRPr lang="en-IN" sz="12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: Rounded Corners 68583457"/>
            <p:cNvSpPr>
              <a:spLocks noChangeArrowheads="1"/>
            </p:cNvSpPr>
            <p:nvPr/>
          </p:nvSpPr>
          <p:spPr bwMode="auto">
            <a:xfrm>
              <a:off x="4440835" y="168884"/>
              <a:ext cx="1745017" cy="3812816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05000"/>
                </a:lnSpc>
                <a:spcAft>
                  <a:spcPts val="800"/>
                </a:spcAft>
              </a:pPr>
              <a:r>
                <a: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 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4525839" y="283845"/>
              <a:ext cx="1562518" cy="645758"/>
            </a:xfrm>
            <a:prstGeom prst="rect">
              <a:avLst/>
            </a:prstGeom>
            <a:solidFill>
              <a:schemeClr val="accent2">
                <a:lumMod val="75000"/>
                <a:lumOff val="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PERFORMANCE</a:t>
              </a:r>
              <a:endParaRPr lang="en-IN" sz="12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METRICS</a:t>
              </a:r>
              <a:endParaRPr lang="en-IN" sz="12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4511043" y="1330202"/>
              <a:ext cx="1607815" cy="414001"/>
            </a:xfrm>
            <a:prstGeom prst="rect">
              <a:avLst/>
            </a:prstGeom>
            <a:solidFill>
              <a:schemeClr val="accent6">
                <a:lumMod val="50000"/>
                <a:lumOff val="0"/>
              </a:schemeClr>
            </a:solidFill>
            <a:ln>
              <a:noFill/>
            </a:ln>
            <a:effectLst>
              <a:outerShdw dist="27940" dir="5400000" algn="ctr" rotWithShape="0">
                <a:srgbClr val="000000">
                  <a:alpha val="31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US" sz="14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ACCURACY</a:t>
              </a:r>
              <a:endParaRPr lang="en-IN" sz="140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4509436" y="1986453"/>
              <a:ext cx="1607815" cy="414001"/>
            </a:xfrm>
            <a:prstGeom prst="rect">
              <a:avLst/>
            </a:prstGeom>
            <a:solidFill>
              <a:schemeClr val="accent6">
                <a:lumMod val="50000"/>
                <a:lumOff val="0"/>
              </a:schemeClr>
            </a:solidFill>
            <a:ln>
              <a:noFill/>
            </a:ln>
            <a:effectLst>
              <a:outerShdw dist="27940" dir="5400000" algn="ctr" rotWithShape="0">
                <a:srgbClr val="000000">
                  <a:alpha val="31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US" sz="14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PRECISION</a:t>
              </a:r>
              <a:endParaRPr lang="en-IN" sz="140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4525840" y="2620108"/>
              <a:ext cx="1607815" cy="414001"/>
            </a:xfrm>
            <a:prstGeom prst="rect">
              <a:avLst/>
            </a:prstGeom>
            <a:solidFill>
              <a:schemeClr val="accent6">
                <a:lumMod val="50000"/>
                <a:lumOff val="0"/>
              </a:schemeClr>
            </a:solidFill>
            <a:ln>
              <a:noFill/>
            </a:ln>
            <a:effectLst>
              <a:outerShdw dist="27940" dir="5400000" algn="ctr" rotWithShape="0">
                <a:srgbClr val="000000">
                  <a:alpha val="31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US" sz="14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RECALL</a:t>
              </a:r>
              <a:endParaRPr lang="en-IN" sz="140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4525840" y="3258910"/>
              <a:ext cx="1607815" cy="414001"/>
            </a:xfrm>
            <a:prstGeom prst="rect">
              <a:avLst/>
            </a:prstGeom>
            <a:solidFill>
              <a:schemeClr val="accent6">
                <a:lumMod val="50000"/>
                <a:lumOff val="0"/>
              </a:schemeClr>
            </a:solidFill>
            <a:ln>
              <a:noFill/>
            </a:ln>
            <a:effectLst>
              <a:outerShdw dist="27940" dir="5400000" algn="ctr" rotWithShape="0">
                <a:srgbClr val="000000">
                  <a:alpha val="31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US" sz="14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F1 SCORE</a:t>
              </a:r>
              <a:endParaRPr lang="en-IN" sz="140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: Rounded Corners 1478830258"/>
            <p:cNvSpPr>
              <a:spLocks noChangeArrowheads="1"/>
            </p:cNvSpPr>
            <p:nvPr/>
          </p:nvSpPr>
          <p:spPr bwMode="auto">
            <a:xfrm>
              <a:off x="4514441" y="4712485"/>
              <a:ext cx="1752617" cy="3708605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50000"/>
                <a:lumOff val="0"/>
              </a:schemeClr>
            </a:solidFill>
            <a:ln w="12700">
              <a:solidFill>
                <a:schemeClr val="accent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05000"/>
                </a:lnSpc>
                <a:spcAft>
                  <a:spcPts val="800"/>
                </a:spcAft>
              </a:pPr>
              <a:r>
                <a: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 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5000"/>
                </a:lnSpc>
                <a:spcAft>
                  <a:spcPts val="800"/>
                </a:spcAft>
              </a:pPr>
              <a:r>
                <a: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4604326" y="4973100"/>
              <a:ext cx="1607915" cy="41400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dist="27940" dir="5400000" algn="ctr" rotWithShape="0">
                <a:srgbClr val="000000">
                  <a:alpha val="31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US" sz="1100" b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Raavi"/>
                </a:rPr>
                <a:t>OUTPUT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Arrow: Down 1838477220"/>
            <p:cNvSpPr>
              <a:spLocks noChangeArrowheads="1"/>
            </p:cNvSpPr>
            <p:nvPr/>
          </p:nvSpPr>
          <p:spPr bwMode="auto">
            <a:xfrm>
              <a:off x="3169930" y="818730"/>
              <a:ext cx="266703" cy="267001"/>
            </a:xfrm>
            <a:prstGeom prst="downArrow">
              <a:avLst>
                <a:gd name="adj1" fmla="val 50000"/>
                <a:gd name="adj2" fmla="val 49991"/>
              </a:avLst>
            </a:prstGeom>
            <a:solidFill>
              <a:srgbClr val="69D989"/>
            </a:solidFill>
            <a:ln w="12700">
              <a:solidFill>
                <a:schemeClr val="accent1">
                  <a:lumMod val="15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endParaRPr lang="en-IN"/>
            </a:p>
          </p:txBody>
        </p:sp>
        <p:sp>
          <p:nvSpPr>
            <p:cNvPr id="41" name="Arrow: Down 1130174885"/>
            <p:cNvSpPr>
              <a:spLocks noChangeArrowheads="1"/>
            </p:cNvSpPr>
            <p:nvPr/>
          </p:nvSpPr>
          <p:spPr bwMode="auto">
            <a:xfrm>
              <a:off x="3169930" y="4287821"/>
              <a:ext cx="266703" cy="36285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>
                <a:lumMod val="75000"/>
                <a:lumOff val="0"/>
              </a:schemeClr>
            </a:solidFill>
            <a:ln w="12700">
              <a:solidFill>
                <a:schemeClr val="accent1">
                  <a:lumMod val="15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endParaRPr lang="en-IN"/>
            </a:p>
          </p:txBody>
        </p:sp>
        <p:sp>
          <p:nvSpPr>
            <p:cNvPr id="42" name="Arrow: Down 1271843155"/>
            <p:cNvSpPr>
              <a:spLocks noChangeArrowheads="1"/>
            </p:cNvSpPr>
            <p:nvPr/>
          </p:nvSpPr>
          <p:spPr bwMode="auto">
            <a:xfrm>
              <a:off x="3151829" y="3119299"/>
              <a:ext cx="266703" cy="707763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tx2">
                <a:lumMod val="100000"/>
                <a:lumOff val="0"/>
              </a:schemeClr>
            </a:solidFill>
            <a:ln w="12700">
              <a:solidFill>
                <a:schemeClr val="accent1">
                  <a:lumMod val="15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endParaRPr lang="en-IN"/>
            </a:p>
          </p:txBody>
        </p:sp>
        <p:sp>
          <p:nvSpPr>
            <p:cNvPr id="43" name="Arrow: Down 53280888"/>
            <p:cNvSpPr>
              <a:spLocks noChangeArrowheads="1"/>
            </p:cNvSpPr>
            <p:nvPr/>
          </p:nvSpPr>
          <p:spPr bwMode="auto">
            <a:xfrm>
              <a:off x="5196046" y="968870"/>
              <a:ext cx="266703" cy="347195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69D989"/>
            </a:solidFill>
            <a:ln w="12700">
              <a:solidFill>
                <a:schemeClr val="accent1">
                  <a:lumMod val="15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endParaRPr lang="en-IN"/>
            </a:p>
          </p:txBody>
        </p:sp>
        <p:sp>
          <p:nvSpPr>
            <p:cNvPr id="44" name="Arrow: Down 1909792700"/>
            <p:cNvSpPr>
              <a:spLocks noChangeArrowheads="1"/>
            </p:cNvSpPr>
            <p:nvPr/>
          </p:nvSpPr>
          <p:spPr bwMode="auto">
            <a:xfrm>
              <a:off x="5196396" y="4108518"/>
              <a:ext cx="266703" cy="60035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69D989"/>
            </a:solidFill>
            <a:ln w="12700">
              <a:solidFill>
                <a:schemeClr val="accent1">
                  <a:lumMod val="15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endParaRPr lang="en-IN"/>
            </a:p>
          </p:txBody>
        </p:sp>
        <p:sp>
          <p:nvSpPr>
            <p:cNvPr id="45" name="Arrow: Down 2045023534"/>
            <p:cNvSpPr>
              <a:spLocks noChangeArrowheads="1"/>
            </p:cNvSpPr>
            <p:nvPr/>
          </p:nvSpPr>
          <p:spPr bwMode="auto">
            <a:xfrm>
              <a:off x="3151830" y="5587357"/>
              <a:ext cx="266703" cy="372101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69D989"/>
            </a:solidFill>
            <a:ln w="12700">
              <a:solidFill>
                <a:schemeClr val="accent1">
                  <a:lumMod val="15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endParaRPr lang="en-IN"/>
            </a:p>
          </p:txBody>
        </p:sp>
        <p:sp>
          <p:nvSpPr>
            <p:cNvPr id="46" name="Arrow: Right 879196107"/>
            <p:cNvSpPr>
              <a:spLocks noChangeArrowheads="1"/>
            </p:cNvSpPr>
            <p:nvPr/>
          </p:nvSpPr>
          <p:spPr bwMode="auto">
            <a:xfrm>
              <a:off x="2095520" y="2705106"/>
              <a:ext cx="195202" cy="28950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15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endParaRPr lang="en-IN"/>
            </a:p>
          </p:txBody>
        </p:sp>
        <p:sp>
          <p:nvSpPr>
            <p:cNvPr id="47" name="Arrow: Right 852182216"/>
            <p:cNvSpPr>
              <a:spLocks noChangeArrowheads="1"/>
            </p:cNvSpPr>
            <p:nvPr/>
          </p:nvSpPr>
          <p:spPr bwMode="auto">
            <a:xfrm>
              <a:off x="4300841" y="1300103"/>
              <a:ext cx="172102" cy="28960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15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endParaRPr lang="en-IN"/>
            </a:p>
          </p:txBody>
        </p:sp>
        <p:sp>
          <p:nvSpPr>
            <p:cNvPr id="48" name="Rectangle: Rounded Corners 115633180"/>
            <p:cNvSpPr>
              <a:spLocks noChangeArrowheads="1"/>
            </p:cNvSpPr>
            <p:nvPr/>
          </p:nvSpPr>
          <p:spPr bwMode="auto">
            <a:xfrm>
              <a:off x="2353872" y="1166863"/>
              <a:ext cx="1927918" cy="1919532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accent1">
                  <a:lumMod val="15000"/>
                  <a:lumOff val="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endParaRPr lang="en-IN"/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792294" y="1379307"/>
            <a:ext cx="1674393" cy="3139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b="1" dirty="0" smtClean="0"/>
              <a:t>T-shirt</a:t>
            </a:r>
          </a:p>
          <a:p>
            <a:r>
              <a:rPr lang="en-US" b="1" dirty="0" smtClean="0"/>
              <a:t>Trousers</a:t>
            </a:r>
            <a:br>
              <a:rPr lang="en-US" b="1" dirty="0" smtClean="0"/>
            </a:br>
            <a:r>
              <a:rPr lang="en-US" b="1" dirty="0" smtClean="0"/>
              <a:t>Pullover</a:t>
            </a:r>
            <a:br>
              <a:rPr lang="en-US" b="1" dirty="0" smtClean="0"/>
            </a:br>
            <a:r>
              <a:rPr lang="en-US" b="1" dirty="0" smtClean="0"/>
              <a:t>Dress</a:t>
            </a:r>
            <a:br>
              <a:rPr lang="en-US" b="1" dirty="0" smtClean="0"/>
            </a:br>
            <a:r>
              <a:rPr lang="en-US" b="1" dirty="0" smtClean="0"/>
              <a:t>Coat</a:t>
            </a:r>
            <a:br>
              <a:rPr lang="en-US" b="1" dirty="0" smtClean="0"/>
            </a:br>
            <a:r>
              <a:rPr lang="en-US" b="1" dirty="0" smtClean="0"/>
              <a:t>Sandal</a:t>
            </a:r>
            <a:br>
              <a:rPr lang="en-US" b="1" dirty="0" smtClean="0"/>
            </a:br>
            <a:r>
              <a:rPr lang="en-US" b="1" dirty="0" smtClean="0"/>
              <a:t>Shirt</a:t>
            </a:r>
            <a:br>
              <a:rPr lang="en-US" b="1" dirty="0" smtClean="0"/>
            </a:br>
            <a:r>
              <a:rPr lang="en-US" b="1" dirty="0" smtClean="0"/>
              <a:t>Sneaker</a:t>
            </a:r>
            <a:br>
              <a:rPr lang="en-US" b="1" dirty="0" smtClean="0"/>
            </a:br>
            <a:r>
              <a:rPr lang="en-US" b="1" dirty="0" smtClean="0"/>
              <a:t>Bag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Ankle Boot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54" name="Flowchart: Process 53"/>
          <p:cNvSpPr/>
          <p:nvPr/>
        </p:nvSpPr>
        <p:spPr>
          <a:xfrm>
            <a:off x="732706" y="4708827"/>
            <a:ext cx="2150194" cy="1475208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07" y="4703248"/>
            <a:ext cx="2139644" cy="1480787"/>
          </a:xfrm>
          <a:prstGeom prst="rect">
            <a:avLst/>
          </a:prstGeom>
        </p:spPr>
      </p:pic>
      <p:sp>
        <p:nvSpPr>
          <p:cNvPr id="56" name="Flowchart: Process 55"/>
          <p:cNvSpPr/>
          <p:nvPr/>
        </p:nvSpPr>
        <p:spPr>
          <a:xfrm>
            <a:off x="6574601" y="4399935"/>
            <a:ext cx="1794398" cy="1619865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736" y="4399935"/>
            <a:ext cx="1827200" cy="161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0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dirty="0"/>
              <a:t>Implementation /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dirty="0"/>
              <a:t>Defined reusable PyTorch functions for training and evaluation.</a:t>
            </a:r>
          </a:p>
          <a:p>
            <a:r>
              <a:rPr dirty="0"/>
              <a:t>Trained MLP for 12 epochs, CNN for 18 epochs, ConvNeXt-Tiny for 15 epochs.</a:t>
            </a:r>
          </a:p>
          <a:p>
            <a:r>
              <a:rPr dirty="0"/>
              <a:t>Used </a:t>
            </a:r>
            <a:r>
              <a:rPr dirty="0" smtClean="0"/>
              <a:t>One</a:t>
            </a:r>
            <a:r>
              <a:rPr lang="en-US" dirty="0" smtClean="0"/>
              <a:t>-</a:t>
            </a:r>
            <a:r>
              <a:rPr dirty="0" smtClean="0"/>
              <a:t>Cycle</a:t>
            </a:r>
            <a:r>
              <a:rPr lang="en-US" dirty="0" smtClean="0"/>
              <a:t> </a:t>
            </a:r>
            <a:r>
              <a:rPr dirty="0" smtClean="0"/>
              <a:t>LR </a:t>
            </a:r>
            <a:r>
              <a:rPr dirty="0"/>
              <a:t>scheduler for ConvNeXt optimization.</a:t>
            </a:r>
          </a:p>
          <a:p>
            <a:r>
              <a:rPr dirty="0"/>
              <a:t>Plotted training curves to analyze convergence trends.</a:t>
            </a:r>
          </a:p>
          <a:p>
            <a:r>
              <a:rPr dirty="0"/>
              <a:t>Generated confusion matrices for each model.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8"/>
            <a:ext cx="8229600" cy="1143000"/>
          </a:xfr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rmAutofit fontScale="90000"/>
          </a:bodyPr>
          <a:lstStyle/>
          <a:p>
            <a:r>
              <a:rPr dirty="0"/>
              <a:t>Model 1: Multilayer Perceptron (MLP)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10100" cy="4525963"/>
          </a:xfrm>
        </p:spPr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Two dense hidden layers (512, 256 units) with </a:t>
            </a:r>
            <a:r>
              <a:rPr lang="en-US" dirty="0" smtClean="0"/>
              <a:t>SiLU</a:t>
            </a:r>
            <a:r>
              <a:rPr dirty="0" smtClean="0"/>
              <a:t> </a:t>
            </a:r>
            <a:r>
              <a:rPr dirty="0"/>
              <a:t>activation.</a:t>
            </a:r>
          </a:p>
          <a:p>
            <a:pPr>
              <a:defRPr sz="2000">
                <a:latin typeface="Calibri"/>
              </a:defRPr>
            </a:pPr>
            <a:r>
              <a:rPr dirty="0"/>
              <a:t>Dropout (0.4) for regularization, trained with AdamW optimizer for 12 epochs.</a:t>
            </a:r>
          </a:p>
          <a:p>
            <a:pPr>
              <a:defRPr sz="2000">
                <a:latin typeface="Calibri"/>
              </a:defRPr>
            </a:pPr>
            <a:r>
              <a:rPr dirty="0"/>
              <a:t>Test accuracy: 84.9%. Struggles with similar categories such as Shirt vs T-shirt.</a:t>
            </a:r>
          </a:p>
        </p:txBody>
      </p:sp>
      <p:sp>
        <p:nvSpPr>
          <p:cNvPr id="5" name="Flowchart: Process 4"/>
          <p:cNvSpPr/>
          <p:nvPr/>
        </p:nvSpPr>
        <p:spPr>
          <a:xfrm>
            <a:off x="5067300" y="2070100"/>
            <a:ext cx="3810000" cy="316230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utoShape 2" descr="data:image/png;base64,iVBORw0KGgoAAAANSUhEUgAAAsEAAAJUCAYAAAD0GvuEAAAAOnRFWHRTb2Z0d2FyZQBNYXRwbG90bGliIHZlcnNpb24zLjEwLjAsIGh0dHBzOi8vbWF0cGxvdGxpYi5vcmcvlHJYcgAAAAlwSFlzAAAPYQAAD2EBqD+naQABAABJREFUeJzs3XVYVNkbwPHvIIiCQYMd2Lq2Ygf2Kraru3Z36xprYKz6U9euNTHX7lawMBEkVAzsVVrBXCXm9wc6OjIorDMLzryf57nPo2fee+9559wZzpw594xCqVQqEUIIIYQQwoAYpXYFhBBCCCGE+K9JJ1gIIYQQQhgc6QQLIYQQQgiDI51gIYQQQghhcKQTLIQQQgghDI50goUQQgghhMGRTrAQQgghhDA40gkWQgghhBAGRzrBQgghhBDC4EgnWAhhkG7fvk39+vXJmjUrCoWC3bt3a/X49+/fR6FQ4ObmptXjpsSPP/5Iz549U+38/5UuXbqQN29etTKFQoGrq+t/Wg9XV1cUCoXq/zExMeTKlYslS5b8p/UQQiSPdIKF0FNubm4oFAoUCgWenp6JHlcqleTKlQuFQkGTJk3UHlMoFAwYMOCLx69Vq5bq+AqFAisrKypUqMDq1auJj49PVh3v3LlD7969yZ8/PxkyZCBLlixUrVqV+fPn8+bNm+Qn+y907tyZgIAAfv/9d9avX0/58uV1er7/2tmzZzl69CijRo1K7aoYLBMTE4YNG8bvv//OP//8k9rVEUJ8xji1KyCE0K0MGTKwadMmqlWrplZ+6tQp/v77b0xNTf/1sXPmzMn06dMBCA8PZ926dXTv3p1bt24xY8aML+574MAB2rRpg6mpKZ06daJEiRK8e/cOT09PRo4cybVr11i+fPm/rtuXvHnzhvPnz/Pbb799tbP/b+XJk4c3b95gYmKik+N/zaxZs6hTpw4FChRIlfOntjdv3mBsnPp/4rp27cro0aPZtGkT3bp1S+3qCCE+kfrvEEIInfrxxx/Ztm0bCxYsUOsUbNq0iXLlyhEREfGvj501a1Y6dOig+n/v3r0pXLgwixYtYsqUKUl2AO/du0e7du3IkycPHh4eZMuWTfVY//79CQoK4sCBA/+6Xl8THh4OgIWFhc7OoVAoyJAhg86O/yVhYWEcOHCAZcuWpcr5X79+jZmZWaqc+4PUeu4/Z2FhQf369XFzc5NOsBBpjEyHEELP/fzzz0RGRnLs2DFV2bt379i+fTu//PKLVs9lZmZGpUqVePXqlaqjqcnMmTN5+fIlq1atUusAf1CgQAEGDx6s+n9sbCxTpkzB0dERU1NT8ubNy9ixY3n79q3afnnz5qVJkyZ4enpSsWJFMmTIQP78+Vm3bp0qxtXVlTx58gAwcuRIFAqFaj6pprmlH/b5dK4nwLFjx6hWrRoWFhZkypSJwoULM3bsWNXjSc0J9vDwoHr16pibm2NhYUGzZs0IDAzUeL6goCC6dOmChYUFWbNmpWvXrrx+/TrJ5/WDAwcOEBsbS926ddXKP0yROXv2LMOGDcPW1hZzc3NatGihsb2WLFlC8eLFMTU1JXv27PTv35+oqCi1mFq1alGiRAm8vb2pUaMGZmZmjB07VpX/7NmzWbx4Mfnz58fMzIz69evz6NEjlEolU6ZMIWfOnGTMmJFmzZrx9OlTtWPv2bOHxo0bkz17dkxNTXF0dGTKlCnExcV99Tn4dE7wh7oktX3q4sWLNGzYkKxZs2JmZkbNmjU5e/ZsouN7enpSoUIFMmTIgKOjI3/++WeSdalXrx6enp6J8hNCpC4ZCRZCz+XNm5fKlSvz119/0ahRIwAOHTpEdHQ07dq1Y8GCBVo93927d0mXLt0XR1n37dtH/vz5qVKlSrKO2aNHD9auXUvr1q0ZPnw4Fy9eZPr06QQGBrJr1y612KCgIFq3bk337t3p3Lkzq1evpkuXLpQrV47ixYvTsmVLLCwsGDp0KD///DM//vgjmTJlSlGO165do0mTJpQsWZLJkydjampKUFCQxs7Sp44fP06jRo3Inz8/rq6uvHnzhoULF1K1alV8fHwSdcB/+ukn8uXLx/Tp0/Hx8WHlypXY2dnxv//974vnOXfuHNbW1qrO/ucGDhyIpaUlEydO5P79+8ybN48BAwawZcsWVYyrqyuTJk2ibt269O3bl5s3b7J06VK8vLw4e/as2ih/ZGQkjRo1ol27dnTo0AF7e3vVYxs3buTdu3cMHDiQp0+fMnPmTH766SecnZ05efIko0aNIigoiIULFzJixAhWr16t2tfNzY1MmTIxbNgwMmXKhIeHBxMmTOD58+fMmjXri8/Bp2xtbVm/fr1aWUxMDEOHDiV9+vSqMg8PDxo1akS5cuWYOHEiRkZGrFmzBmdnZ86cOUPFihUBCAgIoH79+tja2uLq6kpsbCwTJ05Uy/tT5cqVQ6lUcu7cuUTz74UQqUgphNBLa9asUQJKLy8v5aJFi5SZM2dWvn79WqlUKpVt2rRR1q5dW6lUKpV58uRRNm7cWG1fQNm/f/8vHr9mzZrKIkWKKMPDw5Xh4eHKwMBA5aBBg5SA0sXFJcn9oqOjlYCyWbNmycrD19dXCSh79OihVj5ixAgloPTw8FCV5cmTRwkoT58+rSoLCwtTmpqaKocPH64qu3fvnhJQzpo1S+2YnTt3VubJkydRHSZOnKj89O1y7ty5SkAZHh6eZL0/nGPNmjWqstKlSyvt7OyUkZGRqjI/Pz+lkZGRslOnTonO161bN7VjtmjRQmltbZ3kOT+oVq2asly5conKP1wTdevWVcbHx6vKhw4dqkyXLp0yKipKqVQmPGfp06dX1q9fXxkXF6eKW7RokRJQrl69WlVWs2ZNJaBctmyZxvxtbW1Vx1UqlcoxY8YoAWWpUqWUMTExqvKff/5ZmT59euU///yjKvtwvX6qd+/eSjMzM7U4Te0GKCdOnJjUU6Ts16+fMl26dKrrJz4+XlmwYEFlgwYN1J6b169fK/Ply6esV6+eqqx58+bKDBkyKB88eKAqu379ujJdunRKTX9Wnzx5ogSU//vf/5KsjxDivyfTIYQwAD/99BNv3rxh//79vHjxgv3792tlKsSNGzewtbXF1taWokWLsnDhQho3bqw2mve558+fA5A5c+ZknePgwYMADBs2TK18+PDhAInmDhcrVozq1aur/m9ra0vhwoW5e/duss6XHB9Guffs2ZPslTCCg4Px9fWlS5cuWFlZqcpLlixJvXr1VHl+qk+fPmr/r169OpGRkarnMCmRkZFYWlom+XivXr3UpgFUr16duLg4Hjx4ACSMWL97944hQ4ZgZPTxz0TPnj3JkiVLoufc1NSUrl27ajxXmzZtyJo1q+r/Tk5OAHTo0EFtjrqTkxPv3r3j8ePHqrKMGTOq/v3ixQsiIiKoXr06r1+/5saNG198Dr5k3bp1LFmyhJkzZ1K7dm0AfH19uX37Nr/88guRkZFEREQQERHBq1evqFOnDqdPnyY+Pp64uDiOHDlC8+bNyZ07t+qYRYsWpUGDBhrP96EtvmX+vRBC+2Q6hBAGwNbWlrp167Jp0yZev35NXFwcrVu3/ubj5s2blxUrVqhuAitYsCB2dnZf3CdLlixAQqcmOR48eICRkVGiVQ4cHBywsLBQddw++LRj8oGlpSXPnj1L1vmSo23btqxcuZIePXowevRo6tSpQ8uWLWndurVap/HzPAAKFy6c6LGiRYty5MgRXr16hbm5uar881w+dKaePXumeh6TolQqk3zsS8f9Ul3Tp09P/vz5Ez3nOXLkUJtW8KVzfegQ58qVS2P5p+107do1xo0bh4eHR6KOf3R0dBLZfZmvry99+vTh559/Vvtgdfv2bSBh6bykREdH8/btW968eUPBggUTPV64cGGNH2Y+tMXn84+FEKlLOsFCGIhffvmFnj17EhISQqNGjbSyMoK5uXmim6++JkuWLGTPnp2rV6+maL/kdiDSpUunsfxLncKvnePzG7EyZszI6dOnOXHiBAcOHODw4cNs2bIFZ2dnjh49mmQdUurf5mJtbf3FTv+3PEeafDpim9xzfa0OUVFR1KxZkyxZsjB58mQcHR3JkCEDPj4+jBo1Ktkj8J969uwZrVq1olChQqxcuVLtsQ/HmzVrFqVLl9a4f6ZMmRLdjJnc8wLY2NikeF8hhO5IJ1gIA9GiRQt69+7NhQsX1G6ASg1NmjRh+fLlnD9/nsqVK38xNk+ePMTHx3P79m2KFi2qKg8NDSUqKirJm7/+DUtLy0SrHwCJRj4BjIyMqFOnDnXq1GHOnDlMmzaN3377jRMnTmj8YPChnjdv3kz02I0bN7CxsVEbBf4WRYoUYceOHf96/0/rmj9/flX5u3fvuHfvXoo/+PwbJ0+eJDIykp07d1KjRg1V+b179/7V8eLj42nfvj1RUVEcP3480RJujo6OQMKHtC/lZ2trS8aMGVUjx5/S1Laf1vnT61cIkfpkTrAQBiJTpkwsXboUV1dXXFxcUrUuv/76K+bm5vTo0YPQ0NBEj9+5c4f58+cDCescA8ybN08tZs6cOQA0btxYa/VydHQkOjoaf39/VVlwcHCiFSg0LXX1YfQwqZHCbNmyUbp0adauXavW0b569SpHjx5V5akNlStX5tmzZ/96HnTdunVJnz49CxYsUBsdXrVqFdHR0Vp9zpPyYaT40/O/e/fuX/8E8aRJkzhy5Ah//fUX+fLlS/R4uXLlcHR0ZPbs2bx8+TLR4x+WkEuXLh0NGjRg9+7dPHz4UPV4YGAgR44c0Xhub29vFArFVz/wCSH+WzISLIQB+dJ8x89dvnyZqVOnJiqvVatWol+fSylHR0c2bdpE27ZtKVq0qNovxp07d45t27bRpUsXAEqVKkXnzp1Zvny56ivyS5cusXbtWpo3b666sUkb2rVrx6hRo2jRogWDBg3i9evXLF26lEKFCuHj46OKmzx5MqdPn6Zx48bkyZOHsLAwlixZQs6cOb/43MyaNYtGjRpRuXJlunfvrloiLWvWrKo1bbWhcePGGBsbc/z4cXr16pXi/W1tbRkzZgyTJk2iYcOGNG3alJs3b7JkyRIqVKig9gMpulKlShUsLS3p3LkzgwYNQqFQsH79+n81ZSMgIIApU6ZQo0YNwsLC2LBhg9rjHTp0wMjIiJUrV9KoUSOKFy9O165dyZEjB48fP+bEiRNkyZKFffv2AQkd6sOHD1O9enX69etHbGwsCxcupHjx4mofoD44duwYVatWxdra+t89GUIInZBOsBBCo4sXL3Lx4sVE5VOmTPnmTjBA06ZN8ff3Z9asWezZs4elS5diampKyZIl+eOPP+jZs6cqduXKleTPnx83Nzd27dqFg4MDY8aMYeLEid9cj09ZW1uza9cuhg0bxq+//qpao/f27dtqneCmTZty//59Vq9eTUREBDY2NtSsWZNJkyaprYTwubp163L48GEmTpzIhAkTMDExoWbNmvzvf//TODr5b9nb2/Pjjz+ydevWf9UJhoR1gm1tbVm0aBFDhw7FysqKXr16MW3atP/kp6Ctra3Zv38/w4cPZ9y4cVhaWtKhQwfq1KmT5CoMSYmMjESpVHLq1ClOnTqV6PEPnfpatWpx/vx5pkyZwqJFi3j58iUODg44OTnRu3dvVXzJkiU5cuQIw4YNY8KECeTMmZNJkyYRHBycqBMcHR3N0aNH//UIthBCdxTKf3snhBBCiDTrzJkz1KpVixs3bmhcyUD8N+bNm8fMmTO5c+fOF28gFEL896QTLIQQeqpRo0bkzJmTFStWpHZVDFJMTAyOjo6MHj2afv36pXZ1hBCfkU6wEEIIIYQwOLI6hBBCCCGEMDjSCRZCCCGEEAZHOsFCCCGEEMLgSCdYCCGEEEIYHOkECyGEEEIIgyM/lqEn3uycltpV+GaZ2y1O7SpoRToj/fhsmcXULLWr8M2evUn887cidRS0yJHaVdCK21GPU7sKWqEP71Nx8fGpXQWtiH2XetdUTMS/+2n15DCxya+zY2vL9/8qEEIIIYQQIoVkJFgIIYQQwhDFx6V2DVKVjAQLIYQQQgiDIyPBQgghhBCGSKkf86r/LRkJFkIIIYQQBkdGgoUQQgghDJGerLDxb0knWAghhBDCACllOoQQQgghhBCGRUaChRBCCCEMkYFPh5CRYCGEEEIIYXBkJFgIIYQQwhDJnGAhhBBCCCEMi4wECyGEEEIYIvnZZCGEEEIIIQyLjAQLIYQQQhgimROsf1xdXSlduvQXY2rVqsWQIUP+k/oIIYQQQqQ58fG6274DaaITrFAovri5urpq/Zw7d+5kypQpX4y5f/8+CoUCX19fjY9PmjSJDh06AAk57N69W8u11J3N52/Q6H/bqTh+PR0WHyDgUfgX4zd4XqfZH7twGr+BBjO2MWv/Jd7GfJxL5H0vhEFr3ak3bSulx6zF49pDXacAQN8+nQm6dYGXz+9wznMfFcqX/mJ8q1ZNuBpwipfP73DF5ziNGjoninGdOIJHD3x4ER3EkUObKVAgn45qn6BP787cvHmO6KjbnDm9l/JfyaFly8b4+50gOuo23peP0bBBbbXHmzVryIH9G3ny2J+3/zyiZMliOqz9R916/IK3vzuPQv057L6VMmV/+GJ80+YNOed1iEeh/pw6t5e69WqoPb5wyXTCo2+qbVt2rNRlCoB+XFP6kAPAL91ac/zybnwfnmHzodX8UCbpa7lA4fzMXz2D45d3Exh2iU692n3zMbVBX9pCX96n9KU9hHakiU5wcHCwaps3bx5ZsmRRKxsxYoTWz2llZUXmzJmTfPzdu3dfPcaePXto2rSpNqv1nzjif48/DnjRu04p/hrgQqFslvRbfZynL99ojD/oe5cFR7zpXacUO4c1Z2LLKhz1v8/CIz6qmDfvYimUzZIxzZz+qzRo06Yps2dNZMrUOVRwaoif/3UOHtiIra21xvjKlcqzcf1i1qz5i/IVG7B37xF2bF9F8eKFVTEjR/RjQP9u9BswmirVXHj1+jUH92/E1NRUJzm0bu3CzJnj+f33eThV+pGAgOvs37c+yRwqVSrH+nWLcHPbjJNTI/buO8K2bSspVuxjDubmZpw9d4nfxk3TSZ01ad6yEZOnjWH2/xZTp0YLrl29wdZdq7CxsdIYX6FiGf5c9Qcb12/HuXpzDh1wZ+2mxRQpWlAtzv3YaYoXrKraenUfptM89OGa0occABo1q8uoSUNYPHslrep24ua126zYsgArG0uN8RkymvLowWPmTF1MeGiEVo75rfSlLfTlfUpf2kOblMp4nW3fA4VSqVSmdiU+5ebmxpAhQ4iKivpi3MmTJ/n111+5du0aJiYmFC9enE2bNpEnTx5cXV3ZvXs3w4cPZ/z48Tx79oxGjRqxYsUKVce3Vq1alC5dmnnz5gGQN29eunfvzu3bt9m9ezctW7Zk7dq1auesWbMmJ0+eBODRo0cUKFCA8PBwSpYsyYMHD1RxefLk4f79+wAsXbqU2bNn8+jRI/Lly8e4cePo2LGjKlahULBkyRL27t3LyZMnyZYtGzNnzqR169Ypet7e7Ez+G0mHxQcontOaMc0qARAfr6TB/7bxc+WidKuVePRu+p4L3AuPZnmPBqqyPw54EfAoArc+jRLFlx6zljkdauNcPHeKcsjcbnGK4s957sPrsh+Dh4wDEp7L+3e9WLxkDTNnJT7Wpo1LMTczo1mLzqqys2f24et3jf4DRgPw6IEPc+f9yZy5fwKQJUtmnvztS7ceQ9m6dW+y6pXOKPmfLc+c3ou3tx9Dho5X5XAn6BJLlq5h9uwlieI3rF+CuXlGWrTsqio7fWoP/v7XGDBwrFpsnjw5uXXzPBUqNsDf/3qy6/RBFlOzZMcedt+Kr08Ao0dOUeXhd/0UK5evZ8HcFYniV6yZi5lZRtq37aMqO3R8C1cDbjBy6EQgYSQ4S9YsdG7fP8V1/+DZm5cpik+r15Q+5FDQIkeK8th8aDVXfa8zdcxsVR4nfPexYeVWVi5c98V9j1/ezbrlm1m3fLPWjvnB7ajHyc4hrbYF6Mf7VFwKv3JPq+0R+y7515S2vb1zQWfHNnWspLNja0uaGAlOqdjYWJo3b07NmjXx9/fn/Pnz9OrVC4VCoYq5c+cOu3fvZv/+/ezfv59Tp04xY8aMLx539uzZlCpViitXrjB+/HguXboEwPHjxwkODmbnzp2q2L1791KrVi2yZMmCl5cXAGvWrCE4OFj1/127djF48GCGDx/O1atX6d27N127duXEiRNq5x0/fjytWrXCz8+P9u3b065dOwIDA7XyXH0uJjaOwCeROBXIriozMlLg5Jgd/4eap0SUymPH9ceRqikTfz99gefNx1QrnLI/atpkYmJC2bIlcfc4oypTKpW4e3hSqVI5jftUciqnFg9w9NhJVXy+fLnJls0edw9P1ePPn7/g0qUrVHLSfMxvz+EHPD45n1KpxOPEmSTP51SprFo8wLHjp3DSQf2Sy8TEhFKli3Pq5DlVmVKp5PTJc5SvUEbjPuUrlOb0yfNqZSfcPSlfobRaWdVqFbkedI7zlw8zc44rlpYW2q6+iv5cU993DgAmJsYUL1WE86e9VGVKpZLzp70oXf7L02z+y2N++Xz60hb68z6lD+2hdQY+J/i7XB3i+fPnREdH06RJExwdHQEoWrSoWkx8fDxubm6qkd+OHTvi7u7O77//nuRxnZ2dGT58uOr/6dKlA8Da2hoHBwe12D179tCsWTMAbG1tAbCwsFCLmz17Nl26dKFfv34ADBs2jAsXLjB79mxq1/44P6pNmzb06NEDgClTpnDs2DEWLlzIkiWJP2F/q2ev3xIXr8Q6Uwa1cuvMGbgfHq1xnx9L5yfq1Vu6/nkYlEpi45W0cSpEj9oltV6/5LKxscLY2Jiwz772DAsLp0hhR437ODjYEhqm3tEPDY3AwT6h/Rzs7d6XfRYTFoGDg522qq7yIYfP6xQWGkHhQgU07uNgb0toWESiePv3OaQGK2tLjI2NCQ+LVCsPC4+kQKH8Gvexs7ch7LM8wsMjsbO3Uf3f3f0M+/cd4+GDv8mbLxe/TRjG5h0raFS3LfE6eIPVp2vqe84BwMLKAmNjYyLDn6qVR4Y/JV+BPGnmmF+iL22hL+9T+tIeQrvS/Ejww4cPyZQpk2qbNm0aVlZWdOnShQYNGuDi4sL8+fMJDg5W2y9v3rxqc36zZctGWFjYF89Vvnz5ZNXp+fPnnDp16qvzgQMDA6latapaWdWqVRON8lauXDnR/780Evz27VueP3+utr2NiU1W3f8Nr7shrDrpz9hmTvw10IU5HWpx5sZjlrv76eycQuzecZAjhzwIvH6LQwfcad+2N2XLlaRq9YqpXTUhhNAPynjdbd+BNN8Jzp49O76+vqqtT5+EOYRr1qzh/PnzVKlShS1btlCoUCEuXPg4t8XExETtOAqF4qujR+bm5smq06FDhyhWrBi5cuVKYTbaMX36dLJmzaq2zdp5Kln7WpqZks5IQeTLf9TKI1/8g03mjBr3WXLsCo3LONKyQiEKOljiXDwPAxuUYfWpAOLjU2dKeUTEU2JjY9VGDgHs7GwJCdU8rSMkJBx7O/WRCHt7G1V8SGjY+7LPYuxsCAn58geof+NDDp/Xyc7eJtHIwgchoeHY29kkO/6/8DTyGbGxsdjaqd9cYmdrnWjU5YOw0AjsPsvD9gvxAA/u/01ExFPy5df+qB3o1zX1PecAEPU0itjYWKxt1W+stLa1IuKzbxxS85hfoi9toS/vU/rSHkK70nwn2NjYmAIFCqg2K6uPb2BlypRhzJgxnDt3jhIlSrBp0yatnjt9+vQAxMWp/6zgp1MhPjAxMUkUV7RoUc6ePatWdvbsWYoVU18K5tPO+4f/fz6941NjxowhOjpabRvZsmaycjIxTkfR7NZcuvNx5Dw+XsmlO8GUzK35q6p/3sVi9Ml8a0D1fyWp0wmOiYnBx8cf59rVVGUKhQLn2tW4cMFb4z4XLnrj7FxNraxunRqq+Hv3HhIcHKp2zMyZM1GxYhkuXNR8zG/PIYDatT9+W6BQKKhdq1qS57t4wUctHqCOc3Uu6qB+yRUTE4Of7zVq1Pz4jYZCoaB6zcpc9rqicZ/LXr5Ur6l+00TN2lW47OWb5HmyZbfHysqC0BDd/CHVn2vq+84BICYmlmt+N6hUvYKqTKFQUKl6eXwvB6SZY375fPrSFvrzPqUP7aF18XG6274D3+Wc4Hv37rF8+XKaNm1K9uzZuXnzJrdv36ZTp05aPY+dnR0ZM2bk8OHD5MyZkwwZMmBubs6hQ4cSLduWN29e3N3dqVq1KqamplhaWjJy5Eh++uknypQpQ926ddm3bx87d+7k+PHjavtu27aN8uXLU61aNTZu3MilS5dYtWpVkvUyNTVNtPzKG5PkN2XH6sUYv82TYjmsKZHLho1nA3nzLpZm5RLmd43bega7LGYMapgwsb9G0Vxs8LxOkexW/JDLhoeRL1hyzJcaRXKp7jB+/TaGh5EvVOd4/OwFN548JatZerJZZEp23VJi7vwVrFk1F28ff7y8rjBoYE/MzTPitnYLAGtWz+fJk2B+G5dwQ+TChavwcN/O0CG9OXjoOG1/aka5ciXp0+9X1TEXLFzJ2DGDuB10l/v3HzHJdSRPnoSyZ88RneQwf8EKVq2cg7ePP5e9fBk4sDvm5hlZt24rAKtWzeXJkxDGj/8fAIsWr+L4sW0MGdyLQ4fcafNTU8qVK0m//qNVx7S0tCBXruxkz2YPQKFCCfPdQkPDdTYSs2zxGhYu/R++V67i4+1P736dMTPPyF8bEm4mXbTsf4QEhzJ10hwAli9dx56D6+k7oCvHjpyiRasfKV2mBMMHTwASlk8aMXoA+/ccISwsgrz5cjFx8kju3X3ACfczSdbjW+nDNaUPOQCsXbaJ6QsnctUvkACfa3Tq3Y6MZhnZtXk/ADMWuRIaHMbc3xPunTAxMcaxcML6rCbpTbDLZkuREgV5/eoND+/9naxjapu+tIW+vE/pS3to1XcybUFXvstOsJmZGTdu3GDt2rVERkaSLVs2+vfvT+/evbV6HmNjYxYsWMDkyZOZMGEC1atXZ/z48WTKlImyZcuqxf7xxx8MGzaMFStWkCNHDu7fv0/z5s2ZP38+s2fPZvDgweTLl481a9ZQq1YttX0nTZrE5s2b6devH9myZeOvv/5KNFqsTQ1K5uPZy39YetyXiBdvKJzNiiVd62L9fjpEcNQrtZU2etYuiQJYfPQKYc9fY2megRpFczKg/sfn4NrjSHqu+Pii/+PAZQBcyjoypY36J2lt2bZtL7Y2VrhOGIGDgy1+ftdo3KSD6oar3Lmyq02BOX/hMh06DWDypF+ZOmUUt4Pu0ap1d65du6mKmTV7CebmZixbMhMLiyycPetFY5cOvH37Vic5bN++D1sbKyZMGI6DvS1+ftdxadpRlUOuXDnUppxcuOBNp84DmeQ6ksmTfyUo6D5t2vTg+vWPOTRpUo+VK+ao/r9xQ0InYcrUOUydOlcneezeeQhraytGjR2Enb0tVwMCaduyB+HhCV8z58yZDeUnbeF16Qp9eoxgzLgh/DZhGHfv3KfzL/25EXgbSPj2pXjxQrT9uTlZs2YmJDiMkyfOMmPqfN69i9FJDqAf15Q+5ABwaM9xLK0tGfRrL2zsrAm8eote7QarbmzLlsNeLQ9bB1t2eWxU/b97/45079+RS2e96dyib7KOqW360hb68j6lL+0htCfNrROc1g0aNIjY2FitrdygUCjYtWsXzZs3/6bjpGSd4LQqpesEp1UpWX8zLUvJOsFpVUrXCRa6k9J1gtOqlKwTnJbpw/tUStcJTqtSdZ3ga+46O7Zp8To6O7a2fJcjwampRIkSiVZzEEIIIYQQ3xfpBKdQr169UrsKQgghhBDfTuYEi9Qks1GEEEIIIf570gkWQgghhDBEejKv+t/6/mfGCyGEEEIIkUIyEiyEEEIIYYCUyu/jRy10RTrBQgghhBCGyMBvjJPpEEIIIYQQwuDISLAQQgghhCGSG+OEEEIIIYQwLDISLIQQQghhiGROsBBCCCGEEIZFRoKFEEIIIQxRvGEvkSYjwUIIIYQQwuDISLAQQgghhCEy8DnB0gkWQgghhDBEskSaEEIIIYQQhkVGgoUQQgghDJFMhxD6IHO7xaldhW/25pFHaldBKzLmck7tKmjF65i3qV2Fb6ZI7QpoiTK1K6AFt6Mep3YVxCfiDPxrcCFAOsFCCCGEEIbJwD8MyZxgIYQQQghhcGQkWAghhBDCEMlIsBBCCCGEEIZFRoKFEEIIIQyQUmnYP5ssnWAhhBBCCEMk0yGEEEIIIYQwLDISLIQQQghhiAz8xzJkJFgIIYQQQhgcGQkWQgghhDBEMidYCCGEEEIIwyIjwUIIIYQQhkjmBAshhBBCCGFYZCRYCCGEEMIQyZxgIYQQQgghDIuMBAshhBBCGCIDnxMsnWAhhBBCCEMk0yH0j0Kh+OLm6uqa2lVMdX37dCbo1gVePr/DOc99VChf+ovxrVo14WrAKV4+v8MVn+M0auicKMZ14ggePfDhRXQQRw5tpkCBfDqq/Ud/7TxA/Z96ULZuK37uPYKA67eSjI2JjWWp22YatutF2bqtaNl1EJ4XvRPFhYZHMmrKH1Rt0p5ydVvTovNArt64rbMc9KUtevXuyPVATyKf3uTkqd2UK1/qi/EtWvyIzxV3Ip/e5NKlwzRoUEv1mLGxMVOmjObSpcOEhV8n6M5FVqz4A4dsdjrOIqE9bt+6wIvndzibzPYICDjFi/ft0VBDe0ycOIKHD3x4Hh3E4f+gPfTlmtKHPPQhB5A80loeQjv0shMcHBys2ubNm0eWLFnUykaMGKGKVSqVxMbGpmJtk/bu3TudHLdNm6bMnjWRKVPnUMGpIX7+1zl4YCO2ttYa4ytXKs/G9YtZs+YvyldswN69R9ixfRXFixdWxYwc0Y8B/bvRb8BoqlRz4dXr1xzcvxFTU1Od5ABwyP0MMxevom+XdmxbOZfCBfLSe8REIp9FaYxfuGID2/YeZuzgXuxZt5ifmjVk8G/TCbx1RxUT/eIlHfuPwsTYmGUzJ7Jn3SJG9O9GlsyZdJKDvrRFq1ZNmDFjHNOnzadqlcYEBFxnz551Sebh5FQWt7ULWLd2C1Uq/8i+/UfZvGU5xYoVAsDMLCOlSxdnxoyFVK3ShJ/b9aFgIUe2bVupsxwgoT1mzZrI1KlzqOjUEH//6xz4SntseN8eFSo2YI+G9hjxvj36DxhN1fftcUCH7aEv15Q+5KEPOUgeaS8PrYqP1932HVAolUplaldCl9zc3BgyZAhRUVEAnDx5ktq1a3Pw4EHGjRtHQEAAR48epXLlyowcOZLNmzfz/Plzypcvz9y5c6lQoYLG4wDs3r2bFi1a8OEp9PPzY8iQIVy+fBmFQkHBggX5888/KV++PACenp6MGTOGy5cvY2NjQ4sWLZg+fTrm5uYA5M2bl+7du3P79m12795Ny5YtcXNzS1aexulzJPs5Oee5D6/LfgweMg5IGDm/f9eLxUvWMHPW4kTxmzYuxdzMjGYtOqvKzp7Zh6/fNfoPGA3Aowc+zJ33J3Pm/glAliyZefK3L916DGXr1r3JqtebRx7JzgHg594jKFGkAL8N7QNAfHw8dVt345eWTejRoXWi+NotutCrYxt+btlYVTZk3HRMTdPzv/HDAZi7bC1XrgaybtGMFNXlUxlzJR4pSEpabQsAU2OTZMeePLUbb28/hg+bqMrj1u3zLFu6lj/+WJoofu26RZibZ6R1q+6qshMnd+Hvf53Bg37TeI6y5Upy5sxeCheqwt9/P0lWvd7FxiQ7B4Cznvu4/Fl73HvfHrM0tMfG9+3R/JP28DyzD79P2uPh+/aY+0l7PP7bl+4paI+UvEmn5WsqJfQhD33IQfLQfR6x7x5/a2r/2psD83R27IyNh+js2NqilyPByTF69GhmzJhBYGAgJUuW5Ndff2XHjh2sXbsWHx8fChQoQIMGDXj69Gmyj9m+fXty5syJl5cX3t7ejB49GhOThI7EnTt3aNiwIa1atcLf358tW7bg6enJgAED1I4xe/ZsSpUqxZUrVxg/frxWcwYwMTGhbNmSuHucUZUplUrcPTypVKmcxn0qOZVTiwc4euykKj5fvtxky2aPu4en6vHnz19w6dIVKjlpPua3iomJ4fqtICp98lWWkZERlcqVwu/aDY37vIuJIX169Y6dqWl6rgQEqv5/4uwlihcuwLAJM6jRtCOtuw9m+74jOslBX9rCxMSEMmVKcOLEWVWZUqnkhMdZKjqV1biPk1MZTnicVSs7fvw0ThU1xwNkzZKZ+Ph4oqOfa6fin0mqPTy+0h4eyWgPj/+oPfTpmvre89CHHEDySGt5aJ0yXnfbd8BgO8GTJ0+mXr16ODo6YmpqytKlS5k1axaNGjWiWLFirFixgowZM7Jq1apkH/Phw4fUrVuXIkWKULBgQdq0aUOpUgnzIqdPn0779u0ZMmQIBQsWpEqVKixYsIB169bxzz//qI7h7OzM8OHDcXR0xNHRUeN53r59y/Pnz9W25A7o29hYYWxsTFhohFp5WFg4Dva2GvdxcLAlNCxcrSw0NEIV72Bv977ss5iwCBwcdDOH81n0c+Li4rG2tFArt7ayIOJplMZ9qlYsw7qte3jw6Anx8fGc87qC++nzhEd+/KDzd3AIW/YcInfO7Pw525W2zRoxff4K9hxy13oO+tIW1jaWSeZhn0Qe9va2hIVpirfRGG9qasqUqaPZtnUvL1681E7FP5NUe4SmsD3CQiNUeX+pPex10B76ck3pQx76kANIHmktD6FdBtsJ/jBFARJGaWNiYqhataqqzMTEhIoVKxIYGKhpd42GDRtGjx49qFu3LjNmzODOnY9zTf38/HBzcyNTpkyqrUGDBsTHx3Pv3j2N9UrK9OnTyZo1q9qmjH+R7HoaqtGDepInZ3ZcOvajTJ2WTJu3nOaN6mKk+PgyiI9XUrSgI0N6daJoIUfaNG1IK5f6bN17OBVrbtiMjY1Zv2ERCoWCwYPHpXZ1hBBCfxj4nGCD7QR/mIebXEZGRolGW2Ni1Ocburq6cu3aNRo3boyHhwfFihVj165dALx8+ZLevXvj6+ur2vz8/Lh9+7baiG9y6jVmzBiio6PVNoVR5mTlERHxlNjYWOw+G3Gzs7Ml5LNPsx+EhIRjb6f+Sdne3kYVHxIa9r7ssxg7G0JCwpJVr5SyzJqFdOmMEt0EF/k0ChsrC437WFlkZcG03/A6spWjW1exb8MSzDJmIGd2e1WMrbUljnlzqe2XP09OgpN4br6FvrRFZMSzJPP4fITkg9DQcOzsNMWrj9IkdIAXkztXTlyadNDZKDAk3R72KWwPO3sbVd5fao9QHbSHvlxT+pCHPuQAkkday0Nol8F2gj/l6OhI+vTpOXv24xzFmJgYvLy8KFasGAC2tra8ePGCV69eqWJ8fX0THatQoUIMHTqUo0eP0rJlS9asWQNA2bJluX79OgUKFEi0pU+fPkX1NTU1JUuWLGqbQqFI1r4xMTH4+PjjXLuaqkyhUOBcuxoXLiReLgzgwkVvnJ2rqZXVrVNDFX/v3kOCg0PVjpk5cyYqVizDBQ1LkGmDiYkJxQoV4KK3n6osPj6eiz7+lCpe5Iv7mpqmx97Wmti4OI6dPkftak6qx8r8UJT7j9RvUnjw6AnZ7LX/1Za+tEVMTAxXrlylVq0qqjKFQkGt2lW4dNFH4z4XL16hVu0qamXOztW4eOlj/IcOcAHHvDRp0p6nSUxz0Zak2qP2V9qjdjLao/Z/1B76dE1973noQw4geaS1PLTOwOcEy49lkDD62rdvX0aOHImVlRW5c+dm5syZvH79mu7dE+5ed3JywszMjLFjxzJo0CAuXryotnLDmzdvGDlyJK1btyZfvnz8/fffeHl50apVKwBGjRpFpUqVGDBgAD169MDc3Jzr169z7NgxFi1a9J/mO3f+Ctasmou3jz9eXlcYNLAn5uYZcVu7BYA1q+fz5Ekwv41LWCFh4cJVeLhvZ+iQ3hw8dJy2PzWjXLmS9On3q+qYCxauZOyYQdwOusv9+4+Y5DqSJ09C2bNHNzeVAXT6qRm/TZ9H8cIFKFG0EBu27eXNm39o/mMdAMb8Phc7GyuG9k64s9f/+k1CwyMpUjA/YeGRLFnzF8p4Jd1+bqk6Zsc2zejY71eWr99Kw9rVCAi8zfZ9R5g4or9OctCXtli4YCXLV/zBFZ8ALl/2pf+A7piZmbF+/TYAVqz4gydPQpk4cSYASxav5sjRLQwa1IPDh0/Quo0LZcv+wMABY4CEDvDGTUspXbo4rVt1J126dKrRlqdPoxJ9C6Mt8+avYLWG9lj7SXs8fhLMuPftsWjhKtzdtzNkSG8OHTrOT+/bo6+G9gh63x6uOm4Pfbmm9CEPfchB8kh7eWjVdzJtQVekE/zejBkziI+Pp2PHjrx48YLy5ctz5MgRLC0tAbCysmLDhg2MHDmSFStWUKdOHVxdXenVqxcA6dKlIzIykk6dOhEaGoqNjQ0tW7Zk0qRJAJQsWZJTp07x22+/Ub16dZRKJY6OjrRt2/Y/z3Xbtr3Y2ljhOmEEDg62+Pldo3GTDqoblXLnyk78Jy+M8xcu06HTACZP+pWpU0ZxO+gerVp359q1m6qYWbOXYG5uxrIlM7GwyMLZs140dunA27dvdZZHozrVeRYVzaLVm4h4+owiBfKzbLYrNlYJbRYcGo7RJyPkb9/FsHDlRv4ODsEsYwaqVyrP9HFD1dYA/qFoQeb9Ppb5f65j2dot5HCwZ9TAHjSpX0snOehLW+zYsR8bWyvGjR+Kvb0t/v6BNG/eWZVHzlw5iI//OJ3o4kUfunYZzISJw3GdNJI7Qfdp17YX19//2En27A40aVIPgAsXD6mdq2GDdpw5c0EneXxoj4mftEeTT9ojl4b26NhpAJO+0B6z37fH0k/ao4kO20Nfril9yEMfcpA80l4eQnv0fp1gQ5GSdYLTqpSuE5xWpWSd4LQsJesEp1UpXSc4rZI3aSH0V6quE7xzms6OnbHlWJ0dW1tkTrAQQgghhDA4Mh1CCCGEEMIQGficYBkJFkIIIYQQBkc6wUIIIYQQhigN/VjG4sWLyZs3LxkyZMDJyYlLly59MX7evHkULlyYjBkzkitXLoYOHar2C7zJIZ1gIYQQQgiRarZs2cKwYcOYOHEiPj4+lCpVigYNGhAWpvlHRzZt2sTo0aOZOHEigYGBrFq1ii1btjB2bMpuxpNOsBBCCCGEIVIqdbelwJw5c+jZsyddu3alWLFiLFu2DDMzM1avXq0x/ty5c1StWpVffvmFvHnzUr9+fX7++eevjh5/TjrBQgghhBCGSIfTId6+fcvz58/VNk3rJ7979w5vb2/q1q2rKjMyMqJu3bqcP39eY7WrVKmCt7e3qtN79+5dDh48yI8//pii9KUTLIQQQgghtGr69OlkzZpVbZs+fXqiuIiICOLi4rC3t1crt7e3JyQkROOxf/nlFyZPnky1atUwMTHB0dGRWrVqyXQIIYQQQgiRDDocCR4zZgzR0dFq25gxY7RS7ZMnTzJt2jSWLFmCj48PO3fu5MCBA0yZMiVFx5F1goUQQgghhFaZmppiamr61TgbGxvSpUtHaGioWnloaCgODg4a9xk/fjwdO3akR48eAPzwww+8evWKXr168dtvv2FklLwxXhkJFkIIIYQwRMp43W3JlD59esqVK4e7u7uqLD4+Hnd3dypXrqxxn9evXyfq6KZLly4hpRTclCcjwUIIIYQQItUMGzaMzp07U758eSpWrMi8efN49eoVXbt2BaBTp07kyJFDNafYxcWFOXPmUKZMGZycnAgKCmL8+PG4uLioOsPJIZ1gIYQQQghDlEZ+Nrlt27aEh4czYcIEQkJCKF26NIcPH1bdLPfw4UO1kd9x48ahUCgYN24cjx8/xtbWFhcXF37//fcUnVehTMm4sUizjNPnSO0qfLM3jzxSuwpakTGXc2pXQStMjU1Suwrf7F1sTGpXQSvkTVoI/RX77nGqnfvNOu3cqKZJxk6JV4JIa2QkWAghhBDCEBn4OKh0goUQQgghDFEamQ6RWmR1CCGEEEIIYXBkJFgIIYQQwhAZ+EiwdIL1hJFCkdpV+Gb6ckPZ87ktUrsKWmE5fE9qV+GblbctlNpV0Aqv8FupXYVvZmuWNbWroBXhr6NTuwpaoQ9/M+INfD6r+HbSCRZCCCGEMEQp+FELfSRzgoUQQgghhMGRkWAhhBBCCAOkjDfsKSUyEiyEEEIIIQyOjAQLIYQQQhgiWR1CCCGEEEIYHLkxTgghhBBCCMMiI8FCCCGEEIZIbowTQgghhBDCsMhIsBBCCCGEITLwG+NkJFgIIYQQQhgcGQkWQgghhDBEMhIshBBCCCGEYZGRYCGEEEIIQ6Q07NUhpBMshBBCCGGIZDqEAMibNy/z5s1T/V+hULB79+5Uq48QQgghhNAdvekEd+nSBYVCgUKhIH369BQoUIDJkycTGxub2lVLk/r06cytm+d5Hh2E55l9lC9f+ovxrVo2JsD/JM+jg/DxPk7Dhs5qjzdv1ogDBzYS/CSAd2//plTJYjqs/Ud9+3Qm6NYFXj6/wznPfVT4Wh6tmnA14BQvn9/his9xGn2WB4DrxBE8euDDi+ggjhzaTIEC+XRU+wRb/B7x45ozOC12p+OWi1wNiU4ytseOy5RZcCzRNnDvFbW4u09fMnjfFaovO0HlJe6033yR4BdvdJpHn96duXnzHNFRtzlzeu9Xr6mWLRvj73eC6KjbeF8+RsMGtdUeb9asIQf2b+TJY3/e/vOIkv/BNdWqc3N2XviLk3eOsHLfEoqVLpJkbL5CeZm2fBI7L/zF+ccnaNujVaKY7sM6c/7xCbVt86m1ukwB0I/XBUCXHj9zyf8Y90KucOD4ZkqX/eGL8U2aNeDMpf3cC7mCx9ndONerkSimYKH8uP21iJsPLnLn8WUOeWwhR85sukpBb9pC/makrfbQmnil7rbvgN50ggEaNmxIcHAwt2/fZvjw4bi6ujJr1qzUrta/9u7dO50ct01rF2bNnMDU3+fi5NQI/4DrHNi/AVtba43xlSqVY/36xaxx20xFp4bs3XuY7dtWUrxYYVWMubkZ5856Mfa3aTqpsyZt2jRl9qyJTJk6hwpODfHzv87BAxuTzKNypfJsXL+YNWv+onzFBuzde4Qd21dRvPjHPEaO6MeA/t3oN2A0Vaq58Or1aw7u34ipqalOcjhyK4Q/ztykt1N+NrVzopBNZvrt8eHpa81t/0fjUhzrXkO1bW9fmXQKBfUK2KtiHkW9ptv2y+SzNGdFy3Js/aUyPSvmwzRdOp3kANC6tQszZ47n99/n4VTpRwICrrN/3/ovX1PrFuHmthknp0bs3XeEbdtWUuyza+rsuUv8Nu6/uabqNK3NoIl9WTVnLV0a9uL29TvM3TgTS2sLjfEZMpry5OETlkxbTkRoZJLHvXPjHo1Lt1RtvZsP1FEGCfThdQHQtEVDXH8fxR//W0KDmq25fvUGf+1cjrWNlcb48hVLs3TVLDat30n9Gq04fNCdNRsXUrhoAVVMnry52H14A0G37tHKpQvOVVswd9Yy/vnnrU5y0Je2kL8Zaas9hPYolEr9mBXdpUsXoqKi1KYw1K9fnxcvXmBqakrp0qXVpjs0b94cCwsL3NzcgITpEEOGDGHIkCFAwnSIXbt20bx5cwACAgIYPHgw58+fx8zMjFatWjFnzhwyZcrE0aNHadq0KSEhIVhYWKjOMXjwYAICAvDw8ADA09OTMWPGcPnyZWxsbGjRogXTp0/H3NxcVYfu3btz+/Ztdu/eTcuWLVX1+5r0pjmT/Vx5ntnHZW8/hgwZp8r17h0vlixZw6zZixPFb9ywBDNzM1q06KIqO3N6L37+1xgwYIxabJ48Obl96wIVKtTHz/96susEEJ/CS/Gc5z68Lvsx+JM87t/1YvGSNcyclTiPTRuXYm5mRrMWnVVlZ8/sw9fvGv0HjAbg0QMf5s77kzlz/wQgS5bMPPnbl249hrJ1695k1ev53BbJzqHjlosUt8/K6FoJI47xSiUNV5+hXalcdCv/9dGEjVcesPTCHY71qElGk4RO7qhD/pgYGTG1QYlk10MTy+F7kh175vRevL39GDJ0PJDQFneCLrFk6Rpmz16SKH7D+iWYm2ekRcuuqrLTp/bg73+NAQPHqsXmyZOTWzfPU6FiA/xTeE2VtS7w9aD3Vu5bQqDfDf4Yt0CVwx6vLWxbs4v1i//64r47L/zFlpXb2bJyh1p592GdqdGwGp3r90xRvT/nFX4r2bFp9XVha5Y12TkAHDi+GV+fAH779XdVHt7XPFi9fCOL5q1MFL9s9R+YmWWkU7t+qrL9x/7iWsANRg2bBMDSVbOJjY1lYO/RKarLp8JfJ/1NzefSalsAGCkUyY6Vvxm6bY/Yd49TlIc2vZ7VTWfHNhu5WmfH1ha9Ggn+XMaMGbUymvrq1SsaNGiApaUlXl5ebNu2jePHjzNgwAAA6tSpg4WFBTt2fPwDGBcXx5YtW2jfvj0Ad+7coWHDhrRq1Qp/f3+2bNmCp6en6hgfzJ49m1KlSnHlyhXGjx//zXX/nImJCWXL/oCHxxlVmVKpxMPjDJUqldW4j5NTObV4gGPHTlHJqZzW65dcCXmUxP2zPNw9PKlUSXO9KjmVU4sHOHrspCo+X77cZMtmj7uHp+rx589fcOnSFZ3kGhMXT2DYC5xyfRzZMlIocMplhX9w8v7Q7r7+hAaFHFQd4HilEs/7EeS2NKPfbh+cV5yk45aLnLgTpvX6f/Dxmvr4vCmVSjxOnEnyeXOqVFYtHuDY8VM4pdI1ZWxiTOGShfA6460qUyqVeHn6UKJc8W86dq58OdjrvY3t5zbiuvA37LPbfWt1k6QPrwtIyKNk6WKcOXVBVaZUKjlz6jzlKpbWuE/5CqU5c+q8WtlJj7OUq1gKSOjw1K1fk7tB9/lrx3ICbp/hwPHNNGxcR2c56EtbyN+Mj1K7PYR26WUnWKlUcvz4cY4cOYKzc+L5Oym1adMm/vnnH9atW0eJEiVwdnZm0aJFrF+/ntDQUNKlS0e7du3YtGmTah93d3eioqJo1SphnuD06dNp3749Q4YMoWDBglSpUoUFCxawbt06/vnnH9V+zs7ODB8+HEdHRxwdHb+57p+zsbHC2NiY0NBwtfKwsAjs7TX/cXZwsCUsNEKtLDQsHHt7W63XL7k+5PF5vcLCwnFIol4ODraEhqnnHRoaoYp3eJ//589NaFgEDg7a77g8e/OOOKUSK7P0auXWZumJfP31r2evhkQTFPmSFsVzqMqevn7H65g41ly+R5U81ixtXo7ajnYMP+DH5b+faj0H+OSa+uy5DQuNSPIacbC3JTQsItnxumZhlRVj43Q8jXimVv40/BnWtpq/fk+Oa1cCmTr0fwztMIpZY+aRPbcDS3fNx8w847dWWSN9eF0AWFlbYGxsTPhn10h4WCR2djYa97G1tyE8LPKz+AhVvI2tNZkymzNgSA9OuHvSrmVPDu0/zqr186lctbzWc9CXtpC/GWmrPbTOwOcE69USafv37ydTpkzExMQQHx/PL7/8gqurK40bN/6m4wYGBlKqVCnVtAWAqlWrEh8fz82bN7G3t6d9+/ZUqlSJJ0+ekD17djZu3Ejjxo1V0yP8/Pzw9/dn48aNqmMolUri4+O5d+8eRYsWBaB8+a+/Gb99+5a3b9U7SUqlEkUKvt4S37/d1x9T0DoTJRw+fs384evBWvnt6FAmDwCFbTPjFxzF9qt/Uz7nv+/QiZS7cOKS6t93Au9y7cp1dl3cTB2X2uzbfDAVa2Z4jIwS3h8PH/Rg+ZJ1AFwLuEF5p9J07NqW82cvp2b1hBCpQK9GgmvXro2vry+3b9/mzZs3rF27FnNzc4yMjPh86nNMTIxWz12hQgUcHR3ZvHkzb968YdeuXaqpEAAvX76kd+/e+Pr6qjY/Pz9u376tNuL7aUc7KdOnTydr1qxqW3zci2TVMyLiKbGxsYk+kdvZ2RAaqvkr85CQcOzs1Udf7O1sE336/S99yOPzetnZ2RKSRL1CQsKxt1PP297eRhUf8j7/z58bezsbQkK0P53AMmN60ikUiW6Ci3z9DmuzL99U8SYmjiO3Qmn+ySjwh2MaGynIb6V+HeW3ykTIi3/QBdU19dlza2dvk+Q1EhIajv1nI3pfite1qKfRxMbGYWVjqVZuZWtJZLj2RtBfPn/Fw7t/kzNvdq0d81P68LoAeBoZRWxsLLafXSO2dtaEfTY6/EF4aAS2dtafxduo4p9GRhETE8Ptm3fUYm7fvKuT1SH0pS3kb0baag9tU8bH62z7HuhVJ9jc3JwCBQqQO3dujI0/DnLb2toSHBys+n9cXBxXr15N9nGLFi2Kn58fr169UpWdPXsWIyMjChf+eJdo+/bt2bhxI/v27cPIyEhtBLps2bJcv36dAgUKJNrSp1f/OvxrxowZQ3R0tNpmlC5zsvaNiYnBxyeA2rWrqcoUCgW1a1fjwgUfjftcvOiN8yfxAHXqVOfCRW+N8f+FhDz81eqlUChwrl2NCxc01+vCRW+cndXzqFunhir+3r2HBAeHqh0zc+ZMVKxYRie5mqQzoqhdZi4++tjJilcqufToKSWzffkmomO3Q3kXF8+PhR0SHbOYXRYePHutVv7g2SuyZdbNV/Afr6mqqjKFQkHtWtWSfN4uXvBRiweo41ydi6l0TcXGxHLT/xblq32c46hQKChfrSxXva9p7TwZzTKQM092IsJ0MzVFH14XkJCHv+91qtWspCpTKBRUq1EJ70u+Gve57OWrFg9Qo1ZlvC/5qY7p63MVx4LqN5w6FsjL34+eaDcB9Kst5G/GR6ndHlpn4NMh9KoTnBRnZ2cOHDjAgQMHuHHjBn379iUqKirZ+7dv354MGTLQuXNnrl69yokTJxg4cCAdO3bE3t5eLc7Hx4fff/+d1q1bqy2RMmrUKM6dO8eAAQNUo9V79uxJdGNccpiampIlSxa1LSVTIebPX073bj/TsUNrihQpwKJF0zE3z8jadVsAWL1qHlOnfLx7euGiVdSvX4shQ3pRuLAj48cNo1y5kixd4qaKsbS0oFTJYhQtWgiAQoUcKVWymE7ngM2dv4Ie3X+hY8c2FClSgMWLZmBunhG3tQl5rFk9n9+nfpLHwlU0qF+LoUN6U7iwIxPGJ+SxZOkaVcyChSsZO2YQTZrUo0SJIritmc+TJ6Hs2XNEJzl0KJOHXdceszfwCXefvmTaiUDexMbRrFjCSOG4o1dZcPZ2ov12X39Mrfy2WGRM/AGqc7m8HLkdws6rf/Mw6jWb/R5y+l4EP5VM/goiKTV/wQq6dfuZDh1aU6RwARYtnIa5eUbWrdsKwKpVc5kyZZQqftHi99fU4F4ULuTIuHFD37fFxzV0LS0tKFmyGEWLFAQSrqmSOrym/lqxjaa/NOHHNg3IUyA3v84YSoaMGdi/5TAAE+aPoe/oHqp4YxNjChZ3pGBxR4xNjLF1sKFgcUe1Ud6B4/tQplIpHHLa80P54sxYNYW4+HiO7XbXSQ6gH68LgD8Xu9G+U2va/NyMgoXy8785EzEzz8jmjbsS6rRsOmMnDFXFr1y2ntp1qtF7QBcKFMzH8NH9KVWmBKtXfJyCtnThapq2aET7Tq3Jmy83XXv+Qr2GtVi7arNOctCXtpC/GWmrPYT26NWc4KR069YNPz8/OnXqhLGxMUOHDqV27dpf3/E9MzMzjhw5wuDBg6lQoYLaEmmfKlCgABUrVuTSpUtqy7EBlCxZklOnTvHbb79RvXp1lEoljo6OtG3bVhsppsi27fuwsbVmwoQRODjY4ud3nSYuHVVfG+bKlYP4T77KuHDBm06dBjBp0q9MmTyKoKB7tG7Tg2vXb6pimjSpx6qVc1X/37hxKQBTpsxhylT150lreWzbi62NFa6qPK7RuEkHVR65c2VXy+P8hct06DSAyZN+ZeqUUdwOuker1t25du1jHrNmL8Hc3IxlS2ZiYZGFs2e9aOzSIdEcbG1pUMiBZ2/esfTCHSJfvaWwbWYWNyurmg4R8uIfjD77fHP/2SuuPIliaXPNd2Y7O9rxW+2irL58j5mnbpLH0oxZP5akTHZLjfHasH37PmxtrJgwYTgO9gnXlEvTz6+pjyMDFy5406nzQCa5jmTy5F8JCrpPmzY9uP7ZNbVyxcdrZ+OGhKXWpkydw9SpH681bXHfewJLq6z0GNEFa1srbl+7w9AOo3j2/mY5++x2ateTjb01645+XKqrfd92tO/bDp9zvvRvk9A5s81my6TF48hqmYWop9H4XQqgp0t/op4mf5mtlNKH1wXA3l2Hsbax4texA7G1s+FawA1+adWbiPCEm99y5MymlsflS7706/Ero8YNYsz4Idy784Cu7QdyMzBIFXNovzujhk1i4NCeTPnfWO4E3adHpyFcSmJE81vpS1vI34y01R5apfw+pi3oit6sE2zoUrJOcFqV0jUf06qUrBOclqVkneC0KiXrBKdlKVknOK1K6TrBaVVK1glOy1KyTnBapS9/M1JzneBXUzvo7Njm4zbo7NjaYhAjwUIIIYQQ4jPfydxdXTGIOcFCCCGEEEJ8SkaChRBCCCEM0XeylJmuyEiwEEIIIYQwODISLIQQQghhiAx8TrB0goUQQgghDJGBL5Em0yGEEEIIIYTBkZFgIYQQQghDZODTIWQkWAghhBBCGBwZCRZCCCGEMEBKWSJNCCGEEEIIwyIjwUIIIYQQhkjmBAshhBBCCGFYZCRYCCGEEMIQGfhIsHSChRBCCCEMkfxYhhBCCCGEEIZFRoKFEEIIIQyRgU+HkJFgIYQQQghhcGQkWE+kM0qX2lX4dvFxqV0DrbAYtju1q6AVz8/MTe0qfDN759GpXQXx3quYf1K7CkKIzyhlJFgIIYQQQgjDIiPBQgghhBCGSEaChRBCCCGEMCwyEiyEEEIIYYjiZZ1gIYQQQgghDIqMBAshhBBCGCIDnxMsnWAhhBBCCENk4J1gmQ4hhBBCCCEMjowECyGEEEIYIKVSRoKFEEIIIYQwKDISLIQQQghhiGROsBBCCCGEEIZFRoKFEEIIIQyRjAQLIYQQQghhWGQkWAghhBDCACkNfCRYOsFCCCGEEIbIwDvBMh3ivS5duqBQKFAoFJiYmGBvb0+9evVYvXo18fHxqV09revduxM3bnjy7NlNTp/eTfnypb4Y37Llj/j6uvPs2U28vI7QoEFt1WPGxsZMnToaL68jREQEcvfuJVaunEO2bHa6ToM+fTpz6+Z5nkcH4XlmH+XLl/5ifKuWjQnwP8nz6CB8vI/TsKGz2uPNmzXiwIGNBD8J4N3bvylVspgOa59AH3IA2HzsAo2GzqZCN1faT1xGwJ2/vxi/4fA5mo6cR8VurtQfPJNZGw7y9l2M6vG4+HgWbT9Oo6GzqdjNlcbD/+DP3Sd0vq5lj14d8L92itCI67if2EHZciW/GN+8RSO8fI4SGnGdcxcPUq9+rSRj586fQvTLO/Tt10W7lf5M3z6dCbp1gZfP73DOcx8VvnZNtWrC1YBTvHx+hys+x2n02TUF4DpxBI8e+PAiOogjhzZToEA+HdX+o569OhJw/TRhkYF4nNxJuWS0xWWfY4RFBnL+0iHqN6il9viYsYO57HOM4LCrPPj7Cnv2r//qe9+30pe20Jf3KX1pD6Ed0gn+RMOGDQkODub+/fscOnSI2rVrM3jwYJo0aUJsbKzGfWJiYjSWp2WtWzfhf/8bx++/z6dy5Sb4+weyd+96bG2tNcZXqlSOtWsXsnbtVipVasy+fUfZunU5xYoVAsDMLCOlS5dgxowFVK7cmHbtelOoUH62bVul0zzatHZh1swJTP19Lk5OjfAPuM6B/Ru+mMf69YtZ47aZik4N2bv3MNu3raR4scKqGHNzM86d9WLsb9N0Wnd9ygHg8IUAZm86RO8Wtdk8pR+FczvQd6YbkdEvNcYfPOfH/K1H6dOiNrv+NxjXHi04cjGABduOqWLW7D/NNvdLjOnswq7/DWZI2wa4HTjDpqMXdJZHy1aNmTZ9LP+bvoAa1Zpy9eoNdu12wyaJ9qjoVJZVa+axfu02qld14cD+Y2zavJSi718bn2riUp/yFUrz5EmIzuoP0KZNU2bPmsiUqXOo4NQQP//rHDywMclrqnKl8mxcv5g1a/6ifMUG7N17hB3bV1G8+MdrauSIfgzo341+A0ZTpZoLr16/5uD+jZiamuosj5atGjNtxlhmTF9A9aouBAQEsnPP2i+2xWq3+axbt5VqVZpwYN9RNm1eptYWQUH3GDHclcoVG9Gg3k88fPA3u/auw9rGSic56Etb6Mv7lL60h1bF63D7DiiUhv5zIe916dKFqKgodu/erVbu4eFBnTp1WLFiBT169EChULBkyRIOHTqEu7s7I0eOxNXVlT179jBp0iSuX79O9uzZ6dy5M7/99hvGxsYolUomTZrE6tWrCQ0NxdramtatW7NgwQIAlixZwty5c3n06BFZs2alevXqbN++PUX1z5gxT7JjT5/ejbe3P0OHTgBAoVAQFHSBpUvdmD17aaL49esXYWZmRqtW3VRlp07tws/vOoMG/abxHOXKlcTTcx+FClXm0aMnyapXXHxcsnMA8Dyzj8vefgwZMk6Vx907XixZsoZZsxcnit+4YQlm5ma0aNFFVXbm9F78/K8xYMAYtdg8eXJy+9YFKlSoj5//9RTVS19yeH5mbrJj209cRvH8ORjb2QWA+Ph46g+Zxc/1KtHdpWai+Glr93HvSTgrxny8pmZvOkTAnUesHd8LgAF/rMc6izmTerZUxQybvwnT9CZM79smWfWydx6d7BwA3E/swMfHn5HDJwEJ7XH9pifLl61j7pw/E8WvWbsAM7OMtG3TU1V23GM7AQGBDB08XlWWLZs97id30LJ5V7ZuX8nSxWtYusQt2fV69e6fZMee89yH12U/Bn9yTd2/68XiJWuYOSvxNbVp41LMzcxo1qKzquzsmX34+l2j/4CE5+/RAx/mzvuTOXMTnoMsWTLz5G9fuvUYytate5NVLzOTlHUKPE7uxMfbnxHDXVV5BN46y5/L1jH3j2WJ4tesXYC5uRk/te6hKnM/sQN//0CGDh6n8RyZM2ficYg/Lo07cOrkuWTV63XM22TnkFbbAsBIoUh2bFp9n4pPYfclrbZH7LvHKcpDm6I71tHZsbOud9fZsbVFRoK/wtnZmVKlSrFz505VmaurKy1atCAgIIBu3bpx5swZOnXqxODBg7l+/Tp//vknbm5u/P777wDs2LGDuXPn8ueff3L79m12797NDz/8AMDly5cZNGgQkydP5ubNmxw+fJgaNWroLB8TExPKlPkBDw9PVZlSqcTDw5OKFctq3MfJqSwnTniqlR07dhonJ83xkPBGEB8fT1TUc+1U/DMmJiaULfsDHh5nVGUJeZyhUqWk8iinFg9w7NgpKjmV00kdv0YfcgCIiY0l8P4TKhV3VJUZGRlRqbgj/kGPNO5TumBuAu8/UU2Z+DvsKZ5+t6heqtAnMbm4dP0u94MjALj5IJgrtx5QrWRBneRhYmJC6TIlOHniY2dIqVRy8sQ5KlQso3GfChXLcPLEWbUyd/czavEKhYLlK/9gwfyV3Ai8rZO6f5BwTZXE/bNryt3Dk0qVNF8jlZzKqcUDHD12UhWfL1/uhE78J+8Zz5+/4NKlKzq77j60xYlPntuEtjhLxSTaoqJT2cRtcfwMFZ00x5uYmNClWzuiop4TEBCovcp/cnx9aQt9eJ/Sl/bQNmW8Umfb90BujEuGIkWK4O/vr/r/L7/8QteuXVX/79atG6NHj6Zz54RPi/nz52fKlCn8+uuvTJw4kYcPH+Lg4EDdunUxMTEhd+7cVKxYEYCHDx9ibm5OkyZNyJw5M3ny5KFMGc1v2tpgY2OJsbExYWERauVhYREULuyocR97e1uN8fb2thrjTU1NmTp1DFu37uXFC81fh38rGxsrjI2NCQ0NT1SvwoULaNzHwcGWsFD1PELDwpPMQ9f0IQeAZy9eExcfj3XWTGrl1lkyce9JhMZ9fqxSimcvXtNlygpASWxcPG2cK9KjaS1VTLcmNXj55i3NR80nnZGCuHglA1vXpXHV0jrJw9pa82sjPCyCQoXya9zH3t6GsPDIRPGftsfQYb2JjY1lWQpGfv+tD9fU59dIWFg4RZJ4fTs42BIapn4NhoZG4PA+Bwd7u/dln8WEReDgoJt5/x/aIlzD+06hQkm9T9kk632qYUNnVq+dj5lZRkJCwmju0omnkc+0mwD60xb68j6lL+0htEs6wcmgVCpRfPLVUfny5dUe9/Pz4+zZs6qRX4C4uDj++ecfXr9+TZs2bZg3bx758+enYcOG/Pjjj7i4uGBsbEy9evXIkyeP6rGGDRvSokULzMzMkqzP27dveftW/Su5z+uYWoyNjdmwYTEKhSLJqRJCeAXeZdW+U/zWxYUfHHPyMPQpMzcc4M/dJ+jdPOGmyyMXr3LwnB/T+7ahQE47bjwIZtbGg9haZqZp9aS/hUhLSpcuQZ9+XahRtWlqV0W8d/r0eapVboK1tSWdu7bDbf1CnGu1JOKzDzNCGITvZMRWV2Q6RDIEBgaSL9/Huz3Nzc3VHn/58iWTJk3C19dXtQUEBHD79m0yZMhArly5uHnzJkuWLCFjxoz069ePGjVqEBMTQ+bMmfHx8eGvv/4iW7ZsTJgwgVKlShEVFZVkfaZPn07WrFnVttjY6GTlEhHxjNjYWOzsbNTK7exsCAkJ17hPaGi4xvjPP/0aGxuzceNicufOQZMm7XU2CgwQEfGU2NjYRCMLCfUK07hPSEg4dvbqedjb2SbK47+iDzkAWGY2I52RUaKb4CKfv8TGIpPGfRZvd6dJ1dK0rFWegrkcqFO+GAPb1GP1vtOq1Vjmbj5MtyY1aFS5JAVzOeBSrQwdGlRh1b7TOskjMlLza8NWw7X+QWhoBHaf3VTzaXzlKuWxtbXm2o0zREbdJDLqJnny5OT36WPxv3ZK6zl8uKY+v0bs7GwJSSKHkJBw7O3Ur0F7extVfMj7a/Hz69TezoaQEM3X6bf60Ba2yXjf+SA0NCJZ71OvX7/h7t0HeHn5MqDfaOJi4+jU+SftJoD+tIW+vE/pS3sI7ZJO8Fd4eHgQEBBAq1atkowpW7YsN2/epECBAok2I6OEpzhjxoy4uLiwYMECTp48yfnz5wkICAASOo9169Zl5syZ+Pv7c//+fTw8PJI835gxY4iOjlbbjI2zJiufmJgYrlwJoHbtqqoyhUJB7dpVuXTJR+M+Fy/6UKtWVbWyOnWqc/Hix/gPHWBHx3w0btyep0+jklWffysmJgYfnwBq166mKkvIoxoXLiSVhzfOn8RDQh4XLnrrtK5J0YccAEyMjSmaNzsXr99VlcXHx3Px2l1KFsilcZ9/3sUk+uYinVHC/5WfxHx+8046I6MU3wyTXDExMfheuUrNWlVUZQqFgpq1KuN16YrGfbwuXVGLB6hdu5oqfvPm3VSp1JhqVVxU25MnISyYt4KWzbvoJAcfH3+1a0ShUOBcuxoXLmi+Ri5c9MbZWf2aqlunhir+3r2HBAeHqh0zc+ZMVKxYRmfX3Ye2qJWoLapwKYm2uHTRJ3FbOFfl0kXN8R8YGSkwTZ/+2yv9GX1qC314n9KX9tA6A18dQqZDfOLt27eEhIQQFxdHaGgohw8fZvr06TRp0oROnTolud+ECRNo0qQJuXPnpnXr1hgZGeHn58fVq1eZOnUqbm5uxMXF4eTkhJmZGRs2bCBjxozkyZOH/fv3c/fuXWrUqIGlpSUHDx4kPj6ewoULJ3k+U1PTRMuvpGQqxIIFK1mx4g+8vf25fNmPAQO6YWZmxrp12wBYuXIOT56EMGHCTAAWL17D0aNbGDy4J4cOedCmjQtly/5A//4Jd8caGxuzadNSypQpQcuW3UiXLp3qk/HTp1E6W0Zu/vzlrFo1Fx9vP7wu+zJwYA/MzTOydt0WAFavmseTJyGMGz8DgIWLVuF+fDtDhvTi0CF3fmrTjHLlStKv3yjVMS0tLcidKzvZsjsAqOYfhoSG62QUQx9yAOjYqCrjl++geL7slMifkw1HzvHm7Tua10i4OeS3Zduxs8zC4Lb1AahZpjDrD52jSJ5s/OCYk0ehT1m83Z0aZQqT7v0Hx5qli7Bi7ykcbCxwzJEwHWL94bM0q6G7G04WL1rN0j9nccUnAG9vP/r174q5mRkbNiSs1rJs+WyCn4QwyXU2AEuXuHHw8CYGDOzOkSMnaNW6CWXKlmDw+6lAz55G8eyzD4QxMbGEhoYTdPueTnKYO38Fa1bNxdvHHy+vKwwa2BNz84y4rU24ptasns+TJ8H8Nu79NbVwFR7u2xk6pDcHDx2n7U8J11Sffr+qjrlg4UrGjhnE7aC73L//iEmuI3nyJJQ9e47oJAeARQtXsWz5bK5cCeDy5YS2MDMzY8P6hLb4c8VsnjwJZdLEWUBCWxw68hcDBnXnyOETtG7tQpmyPzBoYEJbmJllZMSv/Tl04DghIWFYW1vRs3dHsmV3YNeugzrJQV/aQl/ep/SlPbTpe7mBTVekE/yJw4cPky1bNoyNjbG0tKRUqVIsWLCAzp07q0Z0NWnQoAH79+9n8uTJ/O9//8PExIQiRYrQo0fCUj0WFhbMmDGDYcOGERcXxw8//MC+ffuwtrbGwsKCnTt34urqyj///EPBggX566+/KF68uM7y3L59PzY21kyYMAx7e1v8/a/TrFkn1U0luXJlV/uBkAsXvOnSZRATJ45g0qSRBAXd56efenH9+i0Asmd3wMUloXNz6dJhtXPVr9+WM2d0s67rtu37sLG1ZsKEETg42OLnd50mLh0/ySNHojw6dRrApEm/MmXyKIKC7tG6TQ+uXb+pimnSpB6rVn5cGmzjxoQl46ZMmcOUqXMkhyQ0rPQDz168YskOdyKiX1I4dzaWjOysulkuJDJKbVS3Z7NaKFCwePtxwp49xzKLOTVLF2FAm7qqmNGdmrB4x3Gmue3l6fNX2FpmpnXtCvRuUTvR+bVl544DWNtYMXbcEOztbQjwD6Rli66EhyXMF82ZK5tae1y66EOPbkMZN34YE1yHc+fOA35p15fA96+N1LBt215sbaxwVV1T12jcpIPqmsr92ev7/IXLdOg0gMmTfmXqlFHcDrpHq9bduXbt4zU1a/YSzM3NWLZkJhYWWTh71ovGLh0S3ZugTTt3HMDGxoqx44aq2qJV8y6qm+Vy5syeqC26dx3C+AnDmeg6gjt37vNLuz6qtoiLi6NQIUd+ad8Sa2tLnj6Nwsfbn4b12ups1Q59aQt9eZ/Sl/YQ2iPrBOuJlKwTnFaldJ1goVspWSc4rUrpOsFpVUrWCU6rUrpOcFqVknWC07KUrBOcVulqatR/LTXXCX7WqpbOjm2546TOjq0tMidYCCGEEEIYHJkOIYQQQghhgAx9TrCMBAshhBBCCIMjI8FCCCGEEIboO1nKTFdkJFgIIYQQQhgcGQkWQgghhDBAShkJFkIIIYQQBicN/WLc4sWLyZs3LxkyZMDJyYlLly59MT4qKor+/fuTLVs2TE1NKVSoEAcPpuyHb2QkWAghhBBCpJotW7YwbNgwli1bhpOTE/PmzaNBgwbcvHkTOzu7RPHv3r2jXr162NnZsX37dnLkyMGDBw+wsLBI0XmlEyyEEEIIYYDSynSIOXPm0LNnT7p27QrAsmXLOHDgAKtXr2b06MQ/erR69WqePn3KuXPnMDExASBv3rwpPq9MhxBCCCGEEFr19u1bnj9/rrZp+jnpd+/e4e3tTd26dVVlRkZG1K1bl/Pnz2s89t69e6lcuTL9+/fH3t6eEiVKMG3aNOLiUvbLs9IJFkIIIYQwRDqcEzx9+nSyZs2qtk2fPj1RFSIiIoiLi8Pe3l6t3N7enpCQEI3Vvnv3Ltu3bycuLo6DBw8yfvx4/vjjD6ZOnZqi9GU6hBBCCCGE0KoxY8YwbNgwtTJTU1OtHDs+Ph47OzuWL19OunTpKFeuHI8fP2bWrFlMnDgx2ceRTrAQQgghhAHS5ZxgU1PTZHV6bWxsSJcuHaGhoWrloaGhODg4aNwnW7ZsmJiYkC5dOlVZ0aJFCQkJ4d27d6RPnz5ZdZTpEEIIIYQQIlWkT5+ecuXK4e7uriqLj4/H3d2dypUra9ynatWqBAUFER//sRd/69YtsmXLluwOMEgnWAghhBDCICnjdbelxLBhw1ixYgVr164lMDCQvn378urVK9VqEZ06dWLMmDGq+L59+/L06VMGDx7MrVu3OHDgANOmTaN///4pOq9MhxBCCCGEMEBpZYm0tm3bEh4ezoQJEwgJCaF06dIcPnxYdbPcw4cPMTL6OG6bK1cujhw5wtChQylZsiQ5cuRg8ODBjBo1KkXnVSiVSqVWMxGpImPGPKldhW8WF5+ypU2Ebj0/Mze1q/DN7J0Try/5PXr17p/UrsI3MzPRzg0xqe11TOIlnr5HRgpFalfhm8XrSfcl9t3jVDt3aO2aOju2/YlTOju2tshIsBBCCCGEIVJ+/x+GvoV0gvVETFxsaldBvFfAIntqV0Er7Gqn7GultCh0Q6/UroJWZG67MLWr8M2MjdJ9PUj8Z+RLYCGkEyyEEEIIYZDSypzg1CKrQwghhBBCCIMjI8FCCCGEEAZIGW/Yc4JlJFgIIYQQQhgcGQkWQgghhDBAhj4nWDrBQgghhBAGSGngS6TJdAghhBBCCGFwZCRYCCGEEMIAGfp0CBkJFkIIIYQQBkdGgoUQQgghDJAskSaEEEIIIYSBkZFgIYQQQggDpFSmdg1Sl4wECyGEEEIIgyMjwUIIIYQQBsjQ5wRLJ1gIIYQQwgAZeidYpkMIIYQQQgiDI53gZAoJCWHgwIHkz58fU1NTcuXKhYuLC+7u7lo7R968eZk3b57Wjvclfft0JujWBV4+v8M5z31UKF/6i/GtWjXhasApXj6/wxWf4zRq6JwoxnXiCB498OFFdBBHDm2mQIF8Oqr9R/qQxy/d2uB+eQ9+Dz3ZcmgNP5QplmRsgcL5WbD6f7hf3sONMC869fr5m4+pLT17dSTg+mnCIgPxOLmTcuVKfjG+eYtGXPY5RlhkIOcvHaJ+g1pqj48ZO5jLPscIDrvKg7+vsGf/esqXL6XDDGDz+UAazdhGxXHr6LB4HwGPwr8Yv8HzGs1m78Bp3DoaTN/CrH0XeRsTq3p81Ql/flm0jyoT1lN7yl8MWefO/fBoneYA+vG6AOjesz2+V0/wJPwqxzy2U/Yr11Sz5g254H2YJ+FX8bywn7r1ayYZ+8e8yTx9cZs+/bpoudbq9KUt+vbpzO1bF3jx/A5nk5lHQMApXrzPo6GGPCZOHMHDBz48jw7isPzNSBVKpe6274F0gpPh/v37lCtXDg8PD2bNmkVAQACHDx+mdu3a9O/fP7Wrl2Jt2jRl9qyJTJk6hwpODfHzv87BAxuxtbXWGF+5Unk2rl/MmjV/Ub5iA/buPcKO7asoXrywKmbkiH4M6N+NfgNGU6WaC69ev+bg/o2YmppKHl/QqFk9Rk8awuLZK2lZtyM3r91m5ZaFWNlYaozPkDEDjx485o+piwgLjdDKMbWhZavGTJsxlhnTF1C9qgsBAYHs3LMWmyTaoqJTWVa7zWfduq1Uq9KEA/uOsmnzMooWK6SKCQq6x4jhrlSu2IgG9X7i4YO/2bV3HdY2VjrJ4YjfXf7Yf4nedUvz18CmFMpmRb9VR3n68o3G+IO+d1hw2JvedUuzc1gLJraqxlH/eyw84qOK8b4XQttKRVjXvwnLujcgNi6evquO8OZdjE5yAP14XQC0aPkjU6ePZeaMRdSu1pyrVwPZvms1Nkm0f0WnMqxYM5eN67ZTq1ozDu4/zoa/llC0aMFEsY1d6lG+QmmePAnRWf1Bf9qiTZumzJo1kalT51DRqSH+/tc58JU8NrzPo0LFBuzRkMeI93n0HzCaqu/zOCB/M8R/TKFUfi/99dTz448/4u/vz82bNzE3N1d7LCoqCgsLCx4+fMjAgQNxd3fHyMiIhg0bsnDhQuzt7QG4c+cOw4YN48KFC7x69YqiRYsyffp06tatC0CtWrU4deqU2rFT0jTG6XMkO/ac5z68LvsxeMg4ABQKBffverF4yRpmzlqcKH7TxqWYm5nRrEVnVdnZM/vw9btG/wGjAXj0wIe58/5kztw/AciSJTNP/valW4+hbN26N9l1S4m0mkcBi+zJzmHLoTVc9b3OlDGzVDmc9N3PhpVbWbFw7Rf3db+8h7XLN7Nu+V9aO+annryKTHasx8md+Hj7M2K4q+qcgbfO8ueydcz9Y1mi+DVrF2BubsZPrXt8zOfEDvz9Axk6eJzGc2TOnInHIf64NO7AqZPnklWv0A29kp1Dh8X7KJ7ThjHNKgMQH6+kwYyt/FylKN1qJR6BnL7nPPfColnes6Gq7I/9lwh4FI5b38Yaz/H05T84T/2LVb0aUS6/Q7LrlrntwmTHptXXRRZTs2TnAHDMYzs+Pv6MGjFZlUfAjdOs+HM98+csTxS/ym0eZuZm/NzmY5sf9dhGgH8gw4dMUJVly2bPsRPbad28K5u3r2DZkrUsW+KW7Ho9f/s62bFptS0AUjIT9KznPi5/lse993nM0pDHxvd5NP8kD88z+/D7JI+H7/OY+0kej//2pXsK8khp5yWttkfsu8cpzER77v5QX2fHzh9wVGfH1hYZCf6Kp0+fcvjwYfr375+oAwxgYWFBfHw8zZo14+nTp5w6dYpjx45x9+5d2rZtq4p7+fIlP/74I+7u7ly5coWGDRvi4uLCw4cPAdi5cyc5c+Zk8uTJBAcHExwcrJN8TExMKFu2JO4eZ1RlSqUSdw9PKlUqp3GfSk7l1OIBjh47qYrPly832bLZ4+7hqXr8+fMXXLp0hUpOmo/5rfQhDxMTY4qXKsK505fUcjh/+hKly/+QZo759XOaULpMCU6cOKt2zpMnzlKxYhmN+1R0KsvJT+IB3I+foaKT5ngTExO6dGtHVNRzAgICtVf592Ji4wh8HIlTgY8fYIyMFDgVyIb/gzCN+5TKY8f1x5GqKRN/R77A8+bfVCuSM8nzvPznHQBZzXQzSqQPrwtIyKNUmeJqH3aUSiWnTp6jQhLXVIWKZTh1Qv3DkcfxM1SoWFr1f4VCwdIVs1g4fyU3bgTppO4f6FNbaMrD4yt5eCQjD480kMf31h5Cu2R1iK8ICgpCqVRSpEiRJGPc3d0JCAjg3r175MqVC4B169ZRvHhxvLy8qFChAqVKlaJUqY/zGadMmcKuXbvYu3cvAwYMwMrKinTp0pE5c2YcHJI/QpRSNjZWGBsbJ/oqPSwsnCKFHTXu4+BgS2iY+tzI0NAIHOxtEx63t3tf9llMWAQODnbaqroafcjD0soCY2NjIsOfqpVHhD8lX4G8aeaYX2NtbYmxsTHhYZ+3RQSFCmluC3t7G8I0xNu/b4sPGjZ0ZvXa+ZiZZSQkJIzmLp14GvlMuwkAz16/JS5eiXWmjGrl1pkyJjmH98fSjkS9ekvXZQdBqSQ2Xkkbp8L0qK153nJ8vJJZ+y9SOo8dBRx0MzVFH14XkPQ1FR4WSaGCmvOwS+Kasvvkmho8rBdxsXH8uTT534j8W/rSFknlERoWTuEU5BEW+vH1/aU87OVvxn9KqZTVIcQXJGdKQmBgILly5VJ1gAGKFSuGhYUFgYEJo1YvX75kxIgRFC1aFAsLCzJlykRgYKBqJDgl3r59y/Pnz9U2mdUi9NHp0+epVrkJ9Zxbc/zYadzWL0xynvF/zetOMKtO+DO2WWX+GtSUOR2cOXPjb5a7+2qMn77nPEEhUfzvl1r/aT1FglKli9O7b2f69xmV2lURQqQR0gn+ioIFC6JQKLhx48Y3HWfEiBHs2rWLadOmcebMGXx9ffnhhx949+5dio81ffp0smbNqrYp418ka9+IiKfExsZiZ2+jVm5nZ0tIqOY74UNCwrG3Ux+hs7e3UcWHhIa9L/ssxs6GkBDNXyV/K33I49nTKGJjY7G2Vb/Rx8bWioiw5M/H1fUxvyYy8hmxsbHY2n3eFjaJRkg+CA2NwC4Z8a9fv+Hu3Qd4efkyoN9o4mLj6NT5J+0mAFiamZLOSEHkZzfBRb58g81no8MfLDl2hcZlHWlZsRAFHaxwLpGHgQ3LsfqkP/Hx6h9Kp+85z+kbj1jZqyH2WRNPq9IWfXhdQNLXlK2ddaKRuQ/Ckrimwt7nUblKBWxtrfEPPEXYs0DCngWSO09Opkwbje/VE1rPQV/aIqk87FOYh539x9f3l/IIlb8Z/yllvO6274F0gr/CysqKBg0asHjxYl69epXo8aioKIoWLcqjR4949OiRqvz69etERUVRrFjC0lRnz56lS5cutGjRgh9++AEHBwfu37+vdqz06dMTFxf31TqNGTOG6OhotU1hlDlZ+cTExODj449z7WqqMoVCgXPtaly44K1xnwsXvXF2rqZWVrdODVX8vXsPCQ4OVTtm5syZqFixDBcuaj7mt9KHPGJiYrnmd4PK1Suo5VCpegV8LwekmWN+/Zwx+F65Sq1aVdTOWbNWFS5duqJxn0sXfaj5STxAbeeqXLqoOf4DIyMFpunTf3ulP2NinI6iOay5FPRxLn58vJJLQcGUzKP5a81/YmIx+uybRCNFQoHy/S07SqWS6XvO43HtIct7NiSHVfJep/+WPrwuICEPvyvXqFGzsqpMoVBQs2YVvJK4prwuXaFGrcpqZbWcq+J1yReALZt3U71SE2pWaaranjwJYeH8lbRu0U0nOehLW2jKo/ZX8qidjDxqp4E8vrf20LZ4pUJn2/dA5gQnw+LFi6latSoVK1Zk8uTJlCxZktjYWI4dO8bSpUu5fv06P/zwA+3bt2fevHnExsbSr18/atasSfny5YGEEeWdO3fi4uKCQqFg/PjxxMerf1TKmzcvp0+fpl27dpiammJjY6OpOpiamiZafkWhSP4FN3f+Ctasmou3jz9eXlcYNLAn5uYZcVu7BYA1q+fz5Ekwv42bAcDChavwcN/O0CG9OXjoOG1/aka5ciXp0+9X1TEXLFzJ2DGDuB10l/v3HzHJdSRPnoSyZ8+RZNcrpfQhD7dlm5ixcCJX/QLx97lG594/k9EsIzs37wNgxiJXwoLDmfN7wp3LJibGOBbOn/Dv9CbYZ7OlSIlCvH71mof3/k7WMXVh0cJVLFs+mytXArh82Y9+/btiZmbGhvXbAfhzxWyePAll0sSEFSuWLnHj0JG/GDCoO0cOn6B1axfKlP2BQQN/A8DMLCMjfu3PoQPHCQkJw9raip69O5ItuwO7dh3USQ4dqxVn/DZPiuW0pkQuWzZ6XuPNu1ialUtYYmvcltPYZTVjUMOE13SNIrnY4HmNItmt+SGXLQ8jn7PkmA81iuYinVHC+MK0PRc45HuXeZ3qYG5qQsSLhJUFMmVITwYT3bz96sPrAmDJotUs/nMmvleu4uPtT59+XTAzy8im9TsSHv9zJsHBoUxx/QOAP5euZd+hjfQf2I2jR07SslVjSpcpwdCBCSsBPHsaxbOnUWrniI2JJSw0gqDb93SSg760xbz5K1itIY+1n+Tx+Ekw497nsWjhKtzdtzNkSG8OHTrOT+/z6Kshj6D3ebjK3wyRCqQTnAz58+fHx8eH33//neHDhxMcHIytrS3lypVj6dKlKBQK9uzZw8CBA6lRo4baEmkfzJkzh27dulGlShVsbGwYNWoUz58/VzvP5MmT6d27N46Ojrx9+1Zn83y3bduLrY0VrhNG4OBgi5/fNRo36aC6qSR3ruxqHfTzFy7TodMAJk/6lalTRnE76B6tWnfn2rWbqphZs5dgbm7GsiUzsbDIwtmzXjR26cDbt291koO+5HFozzGsrC0Y+GtvbO2sCbx6i57tBqlubMuewwHlJ1+t2znYsttjo+r/3ft3pHv/jlw6602nFn2SdUxd2LnjADY2VowdNxR7exsC/ANp1byL6samnDnV2+LSRR+6dx3C+AnDmeg6gjt37vNLuz4EXr8FQFxcHIUKOfJL+5ZYW1vy9GkUPt7+NKzXlhuBt3WSQ4NS+Xn26h+WHrtCxIs3FM5uxZJu9bHOnDAdIjjqldqHzZ7OpVAoYPFRH8KiX2NpnoEaRXMxoEFZVcy2CwnTqHosP6R2rkmtq9GsfOL1a7VBH14XALt2HsTaxooxvw3Gzt6Wq/6BtGnZnfDwhGk9OXNlJ/6T98hLF6/Qq9swxk4YyriJw7l75z4dfu5HoI6ul+TQl7b4kMfET/Jo8kkeuTTk0bHTACZ9IY/Z7/NY+kkeTeRvxn/O0G+Mk3WC9URK1gkWupWSdYLTspSsE5xWpWSd4LQsJesEp1UpXSc4rUrJOsFpmT50ffSl85Ka6wTfLNJIZ8cufOPQ14NSmYwECyGEEEIYIGW8Pnwc+vfkxjghhBBCCGFwZCRYCCGEEMIAGfqEWBkJFkIIIYQQBkdGgoUQQgghDJDMCf4Xzpw5Q4cOHahcuTKPHyfc1bh+/Xo8PT21WjkhhBBCCCF0IcWd4B07dtCgQQMyZszIlStXVGvhRUdHM23aNK1XUAghhBBCaJ+h/2JcijvBU6dOZdmyZaxYsQITExNVedWqVfHx8dFq5YQQQgghhG4olQqdbd+DFHeCb968SY0aNRKVZ82alaioKG3USQghhBBCCJ1KcSfYwcGBoKCgROWenp7kz59fK5USQgghhBC6pVTqbvsepLgT3LNnTwYPHszFixdRKBQ8efKEjRs3MmLECPr27auLOgohhBBCCKFVKV4ibfTo0cTHx1OnTh1ev35NjRo1MDU1ZcSIEQwcOFAXdRRCCCGEEFr2vdzApisp7gQrFAp+++03Ro4cSVBQEC9fvqRYsWJkypRJF/UTQgghhBBC6/71j2WkT5+eYsWKabMuQgghhBDiP/K9rOKgKynuBNeuXRuFIuknzcPD45sqJIQQQgghhK6luBNcunRptf/HxMTg6+vL1atX6dy5s7bqJYQQQgghdOh7WcVBV1LcCZ47d67GcldXV16+fPnNFRJCCCGEELpn6DfGpXiJtKR06NCB1atXa+twQgghhBBC6My/vjHuc+fPnydDhgzaOpwQ362gqCepXQXxXua2C1O7ClrxyscttavwzczLdkntKmiFZUb9WAnp2Zvv/5tbMxPT1K7Cd09ujEuhli1bqv1fqVQSHBzM5cuXGT9+vNYqJoQQQgghhK6kuBOcNWtWtf8bGRlRuHBhJk+eTP369bVWMSGEEEIIoTuGPic4RZ3guLg4unbtyg8//IClpaWu6iSEEEIIIYROpejGuHTp0lG/fn2ioqJ0VB0hhBBCCPFfUOpw+x6keHWIEiVKcPfuXV3URQghhBBCiP9EijvBU6dOZcSIEezfv5/g4GCeP3+utgkhhBBCiLQvXqnQ2fY9SPac4MmTJzN8+HB+/PFHAJo2bar288lKpRKFQkFcXJz2aymEEEIIIbRKlkhLpkmTJtGnTx9OnDihy/oIIYQQQgihc8nuBCvf/8B0zZo1dVYZIYQQQgjx34hP7QqkshTNCf50+oMQQgghhBDfqxStE1yoUKGvdoSfPn36TRUSQgghhBC6p8SwBzdT1AmeNGlSol+ME0IIIYQQ4nuTok5wu3btsLOz01VdhBBCCCHEfyT+e/lVCx1J9pxgmQ8shBBCCCH0RYpXhxBCCCGEEN+/eAOfE5zskeD4+HiZCvEvdOnShebNmyc7/v79+ygUCnx9fXVWJyGEEEIIJQqdbd+DFP9s8vcqPDycvn37kjt3bkxNTXFwcKBBgwacPXs2tauWKvr26UzQrQu8fH6Hc577qFC+9BfjW7VqwtWAU7x8focrPsdp1NA5UYzrxBE8euDDi+ggjhzaTIEC+XRU+4/0IQ99yAEkj7SUx+ZDp2jYZwLl2w3hl9GzCLh9P8nYmNg4lm09xI/9XCnfbgith03H88p1tZjL14IYMG0ZdXqMpWSrAXhc9NNp/T/Qh7bo1uMXvP3deRTqz2H3rZQp+8MX45s2b8g5r0M8CvXn1Lm91K1XQ+3xhUumEx59U23bsmOlLlMA9KMtAHr26kjA9dOERQbicXIn5cqV/GJ88xaNuOxzjLDIQM5fOkT9BrXUHh8zdjCXfY4RHHaVB39fYc/+9ZQvX0qHGQhtMphOcKtWrbhy5Qpr167l1q1b7N27l1q1ahEZGZnaVfvPtWnTlNmzJjJl6hwqODXEz/86Bw9sxNbWWmN85Url2bh+MWvW/EX5ig3Yu/cIO7avonjxwqqYkSP6MaB/N/oNGE2Vai68ev2ag/s3YmpqKnnoeQ6SR9rK4/BZb2a57aLPT43YMmsUhfPkoM+UxURGv9AYv+ivfWw/5smY7m3YPW8cbepXY+jMFQTefaSKefP2LYXz5mBsz7Y6qbMm+tAWzVs2YvK0Mcz+32Lq1GjBtas32LprFTY2VhrjK1Qsw5+r/mDj+u04V2/OoQPurN20mCJFC6rFuR87TfGCVVVbr+7DdFL/D/ShLQBatmrMtBljmTF9AdWruhAQEMjOPWuxSSKPik5lWe02n3XrtlKtShMO7DvKps3LKFqskComKOgeI4a7UrliIxrU+4mHD/5m1951WCfRxmlNvA6374FCaQCTfaOiorC0tOTkyZNJ/uLdnDlzWLNmDXfv3sXKygoXFxdmzpxJpkyZAHBzc2PIkCFs2bKFIUOG8OjRI6pVq8aaNWvIli0bAHFxcYwcOZLVq1eTLl06unfvTmhoKNHR0ezevRuAw4cPM3XqVK5evUq6dOmoXLky8+fPx9HREUiYDpEvXz6uXLlC6dKlk52jcfocyY4957kPr8t+DB4yDki46fH+XS8WL1nDzFmLE8Vv2rgUczMzmrXorCo7e2Yfvn7X6D9gNACPHvgwd96fzJn7JwBZsmTmyd++dOsxlK1b9ya7bimhD3noQw6Sh+7zeOXjluwcfhk9ixKOeRjb8ycgYSpb/d7j+blRTbq3rJ8ovk6PsfRs1YB2jT6+Nw6duYIMpumZPrhzoviSrQYw79eeODulbLTLvGyXFMWn1bawzJgp2Tkcdt+Kr08Ao0dOUeXgd/0UK5evZ8HcFYniV6yZi5lZRtq37aMqO3R8C1cDbjBy6EQgYSQ4S9YsdG7fP9n10OTZm5fJjk2rbWFmkrIOs8fJnfh4+zNiuKsqj8BbZ/lz2Trm/rEsUfyatQswNzfjp9Y9VGXuJ3bg7x/I0MHjNJ4jc+ZMPA7xx6VxB06dPJesej1/dTdFeWjTMXvdfbCtF7pFZ8fWFoMYCc6UKROZMmVi9+7dvH37VmOMkZERCxYs4Nq1a6xduxYPDw9+/fVXtZjXr18ze/Zs1q9fz+nTp3n48CEjRoxQPf7HH3/g5ubG6tWr8fT05OnTp+zatUvtGK9evWLYsGFcvnwZd3d3jIyMaNGiBfHx/83nJhMTE8qWLYm7xxlVmVKpxN3Dk0qVymncp5JTObV4gKPHTqri8+XLTbZs9rh7eKoef/78BZcuXaGSk+Zjfit9yEMfcgDJIy3lERMTS+CdR1Qq+XHEzcjICKeShfG7dU/jPu9iYklvYqJWlsE0PVcC72i9fsmlD21hYmJCqdLF1TpCSqWS0yfPUb5CGY37lK9QmtMnz6uVnXD3pHyF0mplVatV5HrQOc5fPszMOa5YWlpou/oq+tAWkJBH6TIlOHHi4xRIpVLJyRNnqVhRc3tUdCrLyRPqUybdj5+hopPmeBMTE7p0a0dU1HMCAgK1V3kdkjnBBsDY2Bg3NzfWrl2LhYUFVatWZezYsfj7+6tihgwZQu3atcmbNy/Ozs5MnTqVrVu3qh0nJiaGZcuWUb58ecqWLcuAAQNwd3dXPT5v3jzGjBlDy5YtKVq0KMuWLUv04yKtWrWiZcuWFChQgNKlS7N69WoCAgK4fl19Dp6u2NhYYWxsTFhohFp5WFg4Dva2GvdxcLAlNCxcrSw0NEIV72Bv977ss5iwCBwcdHMzpT7koQ85gOSRlvJ49uIlcfHxWFtkViu3zpqFiKjnGvepUroo6/d58OBJGPHx8Zz3C8T9gi/hzzTH/xf0oS2srC0xNjYmPEx9yl1YeCR29jYa97GztyEsTD3n8M/i3d3P0L/PKFo17cLkibOoUrUCm3eswMhIN3/O9aEtAKxV7fF5HhHYJ5GHvYb20BTfsKEzT0IDCH8aSP8B3Wju0omnkc+0m4DQCYPoBENC5/PJkyfs3buXhg0bcvLkScqWLYubmxsAx48fp06dOuTIkYPMmTPTsWNHIiMjef36teoYZmZmqmkLANmyZSMsLAyA6OhogoODcXJyUj1ubGxM+fLl1epx+/Ztfv75Z/Lnz0+WLFnImzcvAA8fPkx2Lm/fvuX58+dqmwHMahFC6MCobq3Jnc2OZoOnUK7tEKat3EYz50oYGX0fIzmGZveOgxw55EHg9VscOuBO+7a9KVuuJFWrV0ztqhms06fPU61yE+o5t+b4sdO4rV+Y5DzjtMbQ5wQbTCcYIEOGDNSrV4/x48dz7tw5unTpwsSJE7l//z5NmjShZMmS7NixA29vbxYvTpjn9O7dO9X+Jp99ZahQKFLc+XRxceHp06esWLGCixcvcvHixUTn+Zrp06eTNWtWtU0Zr/mml89FRDwlNjY20UiEnZ0tIZ99Kv8gJCQcezv1T7729jaq+JDQsPdln8XY2RASEpaseqWUPuShDzmA5JGW8rDMnIl0RkZERqm/H0RGP8fGIovGfayyZmb+6F5c3DiHw8sms3fBeMwymJLTLvX+iOtDWzyNfEZsbCy2nz2PdrbWiUZVPwgLjcDOTj1n2y/EAzy4/zcREU/Jlz/Pt1daA31oC4BIVXt8nodNohHpD0I1tIem+Nev33D37gO8vHwZ0G80cbFxdOr8k3YTEDphUJ3gzxUrVoxXr17h7e1NfHw8f/zxB5UqVaJQoUI8efIkRcfKmjUr2bJlU3VqAWJjY/H29lb9PzIykps3bzJu3Djq1KlD0aJFefYs5V+ZjBkzhujoaLVNYZT56zuSMKXDx8cf59rVVGUKhQLn2tW4cMFb4z4XLnrj7FxNraxunRqq+Hv3HhIcHKp2zMyZM1GxYhkuXNR8zG+lD3noQw4geaSlPExMjCnqmIuLATdVZfHx8Vz0v0WpQl9efso0vQn21hbExsVz/IIvtSp+eekoXdKHtoiJicHP9xo1alZWy6F6zcpc9rqicZ/LXr5Ur1lJraxm7Spc9vJN8jzZsttjZWVBaIjmjty30oe2gIQ8fK9cpVatKqoyhUJBzVpVuHRJc3tcuuhDzU/iAWo7V+XSRc3xHxgZKTBNn/7bK/0fMPSR4GT/Ytz3LDIykjZt2tCtWzdKlixJ5syZuXz5MjNnzqRZs2YUKFCAmJgYFi5ciIuLC2fPnmXZssR3in7N4MGDmTFjBgULFqRIkSLMmTOHqKgo1eOWlpZYW1uzfPlysmXLxsOHDxk9enSKz2NqappoGZmU/Kz13PkrWLNqLt4+/nh5XWHQwJ6Ym2fEbW3CnZxrVs/nyZNgfhs3A4CFC1fh4b6doUN6c/DQcdr+1Ixy5UrSp9/HGwcXLFzJ2DGDuB10l/v3HzHJdSRPnoSyZ8+RFOdnSHnoQw6SR9rKo5OLM+MWrqeYY25+KJiXDftP8ObtW5o7J3Suxi5Yh71VVgZ3aAaA/637hD2NokjenIQ+jWLp1oPExyvp2ryu6piv37zl4SedrMdhkdy49zdZM5mRzVY3S0HpQ1ssW7yGhUv/h++Vq/h4+9O7X2fMzDPy14adACxa9j9CgkOZOmkOAMuXrmPPwfX0HdCVY0dO0aLVj5QuU4LhgycAYG5uxojRA9i/5whhYRHkzZeLiZNHcu/uA064n0myHt9KH9oCYNHCVSxbPpsrVwK4fNmPfv27YmZmxob12wH4c8VsnjwJZdLEWQAsXeLGoSN/MWBQd44cPkHr1i6UKfsDgwb+BoCZWUZG/NqfQweOExIShrW1FT17dyRbdgd27Tqoszy06Xu5gU1XDKITnClTJpycnJg7dy537twhJiaGXLly0bNnT8aOHUvGjBmZM2cO//vf/xgzZgw1atRg+vTpdOrUKUXnGT58OMHBwXTu3BkjIyO6detGixYtiI6OBhLu0t68eTODBg2iRIkSFC5cmAULFlCrVi0dZJ20bdv2YmtjheuEETg42OLnd43GTTqobgDInSu72moV5y9cpkOnAUye9CtTp4zidtA9WrXuzrVrH0ebZs1egrm5GcuWzMTCIgtnz3rR2KVDkqtxSB76k4PkkbbyaFi1HM+iX7Jk8wEiol5QOF8Olo7rj/X76RAhEU8x+uRD87uYGBb9tZ+/QyMwy2BKtbLFmTaoE1nMzVQx1+48oPvEBR9zckvoxDWt5cTUgR11koc+tMXunYewtrZi1NhB2NnbcjUgkLYtexAennCzXM6c2VB+koPXpSv06TGCMeOG8NuEYdy9c5/Ov/TnRuBtIGEZzuLFC9H25+ZkzZqZkOAwTp44y4yp83n3LkYnOYB+tAXAzh0HsLGxYuy4odjb2xDgH0ir5l1UN8vlzKmex6WLPnTvOoTxE4Yz0XUEd+7c55d2fQi8fgtIaI9ChRz5pX1LrK0tefo0Ch9vfxrWa6tqM5G2GcQ6wYYgJesECyG+LylZJzitSuk6wWlVStYJTstSsk5wWpXSdYLTqtRcJ3ifw886O7ZLyF86O7a2GPScYCGEEEIIYZgMYjqEEEIIIYRQF2/gc4JlJFgIIYQQQhgcGQkWQgghhDBAhn5TmIwECyGEEEIIgyMjwUIIIYQQBuh7+VELXZFOsBBCCCGEAYpPwQ9t6SOZDiGEEEIIIQyOjAQLIYQQQhgguTFOCCGEEEKIVLR48WLy5s1LhgwZcHJy4tKlS8nab/PmzSgUCpo3b57ic0onWAghhBDCAMXrcEuJLVu2MGzYMCZOnIiPjw+lSpWiQYMGhIWFfXG/+/fvM2LECKpXr57CMyaQTrAQQgghhEg1c+bMoWfPnnTt2pVixYqxbNkyzMzMWL16dZL7xMXF0b59eyZNmkT+/Pn/1XmlEyyEEEIIYYDiFbrb3r59y/Pnz9W2t2/fJqrDu3fv8Pb2pm7duqoyIyMj6taty/nz55Os++TJk7Gzs6N79+7/On/pBAshhBBCCK2aPn06WbNmVdumT5+eKC4iIoK4uDjs7e3Vyu3t7QkJCdF4bE9PT1atWsWKFSu+qY6yOoQQQgghhAGKR3frBI8ZM4Zhw4aplZmamn7zcV+8eEHHjh1ZsWIFNjY233Qs6QQLIYQQQhggXS6RZmpqmqxOr42NDenSpSM0NFStPDQ0FAcHh0Txd+7c4f79+7i4uKjK4uMTbsUzNjbm5s2bODo6JquOMh1CCCGEEEKkivTp01OuXDnc3d1VZfHx8bi7u1O5cuVE8UWKFCEgIABfX1/V1rRpU2rXro2vry+5cuVK9rllJFgIIYQQwgDFp5FfTR42bBidO3emfPnyVKxYkXnz5vHq1Su6du0KQKdOnciRIwfTp08nQ4YMlChRQm1/CwsLgETlXyOdYD1Rz75kalfhmx0L9U/tKmhFEcvkfwpNyx6/ikjtKnyz7ObWqV0FrTAv2yW1q/DNbhRI2R+ntKpI0NXUroJWmBqbpHYVvtnrmMQrDYjvU9u2bQkPD2fChAmEhIRQunRpDh8+rLpZ7uHDhxgZaX/ygnSChRBCCCEMUEp/1EKXBgwYwIABAzQ+dvLkyS/u6+bm9q/OKXOChRBCCCGEwZGRYCGEEEIIA6TL1SG+BzISLIQQQgghDI6MBAshhBBCGKC0sjpEapFOsBBCCCGEAUpLN8alBpkOIYQQQgghDI6MBAshhBBCGCAZCRZCCCGEEMLAyEiwEEIIIYQBUhr4jXEyEiyEEEIIIQyOjAQLIYQQQhggmRMshBBCCCGEgZGRYCGEEEIIAyQjwUIIIYQQQhgYGQkWQgghhDBAytSuQCqTkWAtUCgU7N69O8nHT548iUKhICoq6j+rkxBCCCHEl8QrdLd9D6QTnAzh4eH07duX3LlzY2pqioODAw0aNODs2bPJ2r9KlSoEBweTNWvWL8Z16dKF5s2ba6HGX9ekcxPczrmx5/Ye5u6dS6HShZKMzV0oN7/9+Rtu59w49OgQzbsnrqORkREdR3Rkzdk17L69m9Weq/l58M86zCBB3z6dCbp1gZfP73DOcx8Vypf+YnyrVk24GnCKl8/vcMXnOI0aOieKcZ04gkcPfHgRHcSRQ5spUCCfjmqfoF3XVhzx2oX3g1NsOrSKEmWKJRnrWDgfc1dN54jXLq6GXqBDr7aJYspVKs2i9bPx8NvH1dALODeqocvqq/To1QG/aycJjrjGsRPbKVuu5Bfjm7VoxEWfIwRHXOPsxQPUq18zydg58yfz7GUQffp10XKt1f3ctTVHvXbh8+A0/2/vrsOi2ro4AP+GLikpUVAUFRNFBFtRFOzA7m4UuwW7Pq+teLG7uxXFFkEkFOwWCQsFlZr1/cHlyAh64co4w8x67zPPlTP7nFl79sSaffbeZ+fJ9aj0L22xdP18nAk6iLuxgegxsHO2MtVqVMGqrf/DhbBjuBsb+MfaQhHeFwBg0KUlip/djJK3j6LYrmXQrFT2p2ULtWkM28jTEreSt49KlDEe1h3Wx9ahZPBh2FzfB8v186FZ+efHzA+K0hYDB/VAZNQVvHt/HwEXD6Gao/0vy7dt2wwht/3x7v193Lx5Cm5uDYT71NTUMGvWRNy8eQpx8ZF49DgQfn6LYVHETMq1UJz2YPmDk+Bc8PDwwO3bt7F582Y8ePAAR44cQYMGDfDu3btc7a+hoQELCwuIRDn/NEpPT4dY/OeGp9drWQ8Dpw3E9qXb4dnME08jn2L21tkwKJxzkq6lrYWYFzHYOH8j3se+z7FMh6Ed0LxHc6yethoDXQZiw9wNaD+4PVr1aSW1enTo0Ar/W+SNWbP/QnVnd4SFR+LE8e0wNS2cY/maNRyxfesqbNy4E45Objhy5DT271uPChW+fwmOGzsUw4f1xdDhE1GrTkskffmCE8e2Q1NTUyp1cG/tivEzRmLN4nXo0LgX7t99iLW7lsLYxCjH8traWnj1/DWWzlmF+Ni3OZfR0cb9uw8xZ+L/pBJzTtp6NMPseZOxYN4KNKjTGnfu3MP+QxthYmqcY3kn56pYt3EJtm3ei/q1W+H4sbPYtmsNypUvna1s85aN4Vi9CqKjY6Rah8y2WL14/T9t8Qhrdy37ZVu8fP4aS+as/te2mD1xkTRDl6AI7wsA0HOvD5MJA/F+9Xa8bD8MyfeewPLvOVA1/nlnQvrnJDyt11m4PXftIXF/yrPXiJ+zCi/aDMLrHmOQ+joGln7zoGL06w6K/0pR2sLDowXmz5+KeXOXoXat5oiIiMThw1t+Wg9nZwds2rwcWzbvRq2azXD02Bns2v03ypfP6GzR0dFGlSoVMH/+CtSu1QJdOg9G6TKlsHfvOqnVAVCc9shPYineCgIRESn7kJBf+vjxI4yMjBAQEID69XPuqRKJRPDz88Px48dx+vRpFC1aFIsXL0arVhkJYEBAAFxcXPDhwwcYGhpi06ZN8PLywpYtWzBx4kQ8ePAA3bt3x+bNmyWOe+HCBTRo0CBXcTa1aprrOi05sgQPwh5gzbQ1Qvxbbm7BkY1HsHf13l/uu+naJhxafwiH1h+S2O6z0Qcf337E0nFLhW1T1k5ByrcULBqZuwTgbGx4rusAANeuHEVQcBhGek0V6vHsSRBWrd6IhYtWZSu/Y/sa6OrooHXbXsK2q5ePIjTsLoYNnwgAePk8BEuWrsVfS9YCAPT1CyH6VSj69h+FPXuO5CouOyOrXNdhx8n1uHM7EnMnLxbqcO72YexYvxfrV2z95b6ngw5iq98ubPt790/L3Im9gRG9x+P8yUu5jinT66ScE7ucnL2wD7dDIjB+zAwAGfW4c/8y/Hy3Yulfa7OVX795GXR1tNG5w0Bh25nz+3AnIhKjR04XthUpYo6zAfvRvk0f7N7nhzWrNsF39aZcx2Wpm/OXW052nlyPO7ejMGfy/4Q6+N8+gh3r92Ldii2/3PdM0EFs9duNrX/v+mmZu7GB8Ow97j+1xf0Pr3JdVl7fF/dsK+a6DgBQbNcyfIt4gLdz/olZJEKJ89vwcfthfFy3J1v5Qm0aw2TiYDyt4ZHrxxDp6qBU0EG87jsBX2+E5mofu0d3cn18eW0LANBUU8912YCLh3DrVhjGjPYW6vHg4XX4rtmMxYvXZCu/ectK6Opqo71HP2HbhYCDCA+PxMgRU3J8DIdqlXH58hGULVMLr15F5yqu5LTUXNcBkN/2SEt5nad65Kcl1t2lduxRL7ZJ7dj5hXuC/4Wenh709PRw6NAhJCcn/7TcjBkz0LFjR4SHh6NZs2bo1q0b3r/PudcUAL58+YIFCxZg3bp1uHv3LpYvX46OHTvC3d0db968wZs3b1CrVq18r4+auhpKVyqN0CuhwjYiQujlUJSrVu4/HzfqVhSq1K6CojZFAQA25WxQoXoFBF8I/t2Qc6Surg4Hh8rwP39Z2EZE8D9/BTVqVMtxnxrO1STKA8CZswFCeRsbaxQpYg7/81eE+z99+oybN2+jhnPOx/wdaupqKF+5LG5cDpKow41LQbB3rJTvjyct6urqqFK1IgIufB8eRES4eOEaqjtVzXEfJ6eqCLhwTWLbef/LEuVFIhF81/0PK5b54V7UQ+kE/w91dTWUr2yH65dvCtsKalsU9PcFAEBdDZrlS+PrjZDv24jw5fptaFX5+RAVFR1tFD+3BcX9t8FipQ80bIv/8jEMOjZD+qdEJN97ko/B/3N4BWkLdXV1VK1aERd+eH9fOH8VTs4OOe7j7FwVF85LDhc8d+4SnJ1yLg8ABvqFIBaLkZDwKX8C/4GitEd+U/aeYF4d4l+oqalh06ZNGDBgAHx9feHg4ID69eujc+fOqFz5+5jH3r17o0uXjDGwc+fOxfLly3Hz5k24u7vneNzU1FSsXr0a9vbfx1Vpa2sjOTkZFhYWv4wpOTk5W0IuJjFURP/+m0bfWB+qaqr4EP9BYvuHtx9QzLbYv+7/M3tW7YGOng7+Dvgb4nQxVFRVsHnhZlw4dOE/H/NXTEyMoaamhrgfTkPHxcXDrmypHPexsDBFbFy8xLbY2LewMDfNuN/c7J9tP5SJewsLi/wfq2ZkbAg1NTW8i5f8sfQu/gNsSpfI98eTlsKFjaCmpob4OMnhQfFxb1G6TMkc9zEzN0F8/Nts5c3+aQsA8Bo9CGlp6Vi7evOPu+c7w5+2xXvYlP5FIiVnFOF9AQCqhvoQqaki/e1Hie3p7z5Ao2TOZ1pSn75C3NS/kPzgCVT0dGHUpz2Kbl+CF60GIj3L86FT3xkWiydBpKWJ9Pj3iO4/CeKP+Z94KUpbFDYx+mk9yvykHubmpoiLy17e3Nwkx/KampqYNXsi9u45gs+fE/Mn8B8oSnuw/MU9wbng4eGB6OhoHDlyBO7u7ggICICDgwM2bdoklMmaEOvq6kJfXx9xcXE/PaaGhobEPnkxb948GBgYSNwef3r8n46VX+q1rAeXti5Y6LkQns08sXjUYngM8oBre1eZxsUKJvsqFTBoaC8MGzRe1qGwAuJbWBQ+HzmHlHtP8C04Am9GzkT6hwQYdGwmUe7rzVC8bDcUr7qOwpcrwbD4a8ovxxkz6VJTU8PWbSshEokwcuRUWYejdEiKt4KAk+Bc0tLSQuPGjTFt2jRcu3YNvXv3hre3t3C/urrk+CqRSPTLyW7a2to/nSj3byZNmoSEhASJWyn9nH/J/ujT+09IT0uHkankZB8jE6NsvcN50W9KP+xZvQcXj1zEs3vPcP7AeRxcdxAdh3X8z8f8lbdv3yMtLQ1mP/QsmJmZIuaHX+WZYmLiYW5mKrHN3NxEKB8TG/fPth/KmJkgJubnP2j+qw/vPyItLQ2Ff5g8VtjUCG/jcjfpUh68e/cBaWlpMDWTHH9ramaSrdclU1zsW5iamuRQPqMtataqDlPTwoi4dwnxH+8h/uM9WBcvhtnzJiHsbkC+1+HjT9vCGG/jfj6sSd4owvsCANI/fgKlpUPVxFBiu2phI6S9zeXnVFo6UqIeQd3aUmIzfU1G6otoJIffQ9y0JaD0dOh75HzG7ncoSlu8e/vhp/X4sQc0U2xsPMzMciov+XmQkQCvgrVVMbRs0V1qvcCA4rQHy1+cBP9H5cuXR1JSUr4eU0NDA+np6f9aTlNTE/r6+hK33AyFAIC01DQ8jHiIKrWrCNtEIhGq1KmCqFtR/zV0aGprgsSSv/3E6WKIVKSzWGBqaipCQsLR0KWOsE0kEqGhSx3cuHErx31uBN5Cw4Z1JLa5NqonlH/69AXevImVOGahQnpwcqqKG4E5H/N3pKWmITL8PpzrVpeog3Pd6ggLjsj3x5OW1NRUhN6+g/oNvo9hF4lEqNegFoJu3s5xn5s3b0uUBwAXl9pC+d27DqFOjeaoV6ulcIuOjsGKpevg0aaPFOqQhsjwe6ihAG1R0N8XAIDUNCRHPoR2jSxjykUi6NSogm+hkbk7hooKNErbID3+1z9iRCIRRBq5nySWW4rSFqmpqbh9+w4a/PD+buBSCzcDQ3LcJzDwNhq4SL6/Gzasg8Cb38tnJsC2pUqgRYtueP/+o1Tiz6Qo7ZHflH2dYB4T/C/evXuHDh06oG/fvqhcuTIKFSqE4OBgLFy4EK1bt87XxypRogROnz6N+/fvo3DhwjAwMMjWw5wfDvodxJi/xuBh+EPcD72PNv3aQFNbE2f3nAUAjFkyBu9i3mHTgk0AMiZwWZe2zvi3hhoKWxRGyfIl8fXLV7x59gYAEHguEJ09OyPudRyeP3gO24q2aDegHc7sPpPv8WdasswPG9cvwa2QcAQF3cYIzwHQ1dXGps0ZqyVs3LAM0dFvMGXqfADAihXrcd5/H0Z5DcKJk+fQqWNrVKtWGYOHfj/lvnzFOkyeNAIPHz3Bs2cvMcNnHKKjY3H48Gmp1GGL707MWT4Nd0OjcOd2JLoP7ARtHS0c2nUcADB3xXTExcRj6ZyMGdhq6mooVSZjDUp1DTWYW5iibIXS+JL0FS+fZawgoK2jDWub7+O7i1pbomyF0kj4+Akxr2OlUo/VKzdg9dpFuB0SgZBb4RgyrDd0dbSxfds+AMCavxfhTXQsZvpkrLywdvUmHDu1A8M8++HM6Qto174FqjhUhNc/M8c/vP+IDz98KaalpiE2Nh6PHj6VSh02++7E3OXTcTc0ChG3I9FjYGdo62jh4K5jAIC5K7z/aYvVADIm031vC3WYWZjC7p+2ePFPW+j80BbFrC1h909bvJFSWyjC+wIAPm46ALN5Y5F85wG+RdyHYc+2EGlr4fPBjM8Us3njkB73Fu+WbAQAGA3phm9hUUh9EQ3VQnow7NseapZmSNh/CgAg0taE0aCuSDp/Helv30PVUB8GXVtB1dwEiacv/zSO36EobbFi+Tr87bcYt0MiEBwcimHD+0FHRwdbt2asJuTntxjR0bHw9l4IAFi9agNOn9mNESP649SpC2jfoSUcHCrBc/gkABkJ8PYda1ClSgW09+gHVVVVoTf1/fuPSE3N26oPuaUo7ZGfCsoENmnhJPhf6OnpwdnZGUuWLMHjx4+RmpoKKysrDBgwAJMnT87XxxowYAACAgLg6OiIxMTEPC2RlheXjl6CgbEBuo/pDmNTYzyOfIxpPabh4z+TUMyKmiHrynnG5sZYdfr78jHtB7dH+8HtEX49HBM6TgAArJm2Bj3H9sSwOcNgaGKI97HvcWL7CexYuiPf48+0d+8RmJoYw2f6WFhYmCIs7C6at+guTMiwtrKUGJJy/UYwuvccjpkzxmP2rAl4+OgpPNr3w92794Uyi/63Grq6OvBdvRCGhvq4ejUIzVt2/+XKIL/j1OFzMCpsiOHjB8DErDDu3X2IwV1GCRO0ihS1gDhLD7uZhSn2n/++dFqfYd3RZ1h3BF0NQZ92QwEAFauUw8aDq4UyE2Z6AQAO7TqOqSNnSaUeB/efgIlJYUye6gUzc1NEhEeifdu+wmS5Yj+0xc3A2xjQdzSmTBuFaT5j8OTxM3TvPARRkdJdBeJXTh0+B+PChhg+fuA/bfEAg7p4ZWkLc1CWOphamGL/+e9LAPUd1h19h3XHzau3hLaoUKUcNh38voTUhJmjAACHdh3DFCm1hSK8LwAg8dRFqBobwNizJ9RMjJB87wmiB01B+ruPAAD1IqZAlnqo6uvBbKYX1EyMMlZ8uPsQr7qNQurjFxkF0sXQsCkG/WXToGqkj/SPn/HtzgO87jEGKY+eS6UOitIW+/cfg4mpMaZOGwVzc1OEh0ehTZteQj2KWRWV+JwKDAxBn94jMd17DHxmjMPjR8/QudNAREY+AABYWlqgRYvGAIAbgSclHsvdrTMuX74hlXooSnuw/MPrBCuIvKwTLK/yuk6wvMrLOsHyLC/rBMurvKwTLM/ysk6wvMrrOsHyKi/rBMuzvKwTLK/yuk6wvJLlOsHziktvneBJz3mdYMYYY4wxxuQOD4dgjDHGGFNC4gKzmJl0cE8wY4wxxhhTOtwTzBhjjDGmhJR9dQjuCWaMMcYYY0qHe4IZY4wxxpSQco8I5iSYMcYYY0wp8XAIxhhjjDHGlAz3BDPGGGOMKSGxSNYRyBb3BDPGGGOMMaXDPcGMMcYYY0qIL5bBGGOMMcaYkuGeYMYYY4wxJaTc/cDcE8wYY4wxxpQQ9wQzxhhjjCkhZV8nmJNgxhhjjDElxBPjGGOMMcYYUzLcE8wYY4wxpoSUux+Yk2CFcTY2XNYhsH/c+/BS1iGwf9xPeSXrEPKFlpqGrEP4bXaP7sg6hHyReGGhrEPIF3ou42Udwm+zNbSUdQisgOMkmDHGGGNMCSn7xDgeE8wYY4wxxpQO9wQzxhhjjCkhXh2CMcYYY4wxJcM9wYwxxhhjSki5+4E5CWaMMcYYU0o8MY4xxhhjjDElwz3BjDHGGGNKiJR8QAT3BDPGGGOMMaXDPcGMMcYYY0qIxwQzxhhjjDGmZLgnmDHGGGNMCfHFMhhjjDHGGFMy3BPMGGOMMaaElLsfmJNgxhhjjDGlxMMhWL549uwZRCIRQkNDZR0KY4wxxhj7FwqRBMfHx2PIkCGwtraGpqYmLCws4ObmhqtXr8o6NLk1ZHAvPHpwA4mfHuPalaOo7ljll+U9PFrgTsRFJH56jNsh59DUvWG2Mj7eY/HyeQg+JzzC6ZO7YGtrI6Xov1OEeihCHQCuhzzVY+CgHrgbdRlv39/DhYsHUc3R/pfl27ZthpDb5/D2/T0E3jyJJm4NJO6fPGUkQm6fQ2z8Xbx8HYqjx7bCsXoV6VXgH4rQFrv8g9B03DJUHzgH3WatQ8ST178sv+3MDbSatApOg+aiyZilWLTzNJJT04T7m45bBvu+M7Pd5m49IdV6KEJbdO3bAf7BhxH24gp2n9yISlXL/7SsbdmSWL5hAfyDD+NeXBB6Duzy28eUR2Ip3goChUiCPTw8cPv2bWzevBkPHjzAkSNH0KBBA7x7907Wof2W1NRUqRy3Q4dW+N8ib8ya/ReqO7sjLDwSJ45vh6lp4RzL16zhiO1bV2Hjxp1wdHLDkSOnsX/felSoUFYoM27sUAwf1hdDh09ErTotkfTlC04c2w5NTU2p1EFR6qEIdeB6yFc9PDyaY978KZg3dxnq1GqBOxFROHR480/r4OzsgI2bl2Hz5j2oXbM5jh07i12716J8+TJCmYcPn2L0aG84V3dHE9cOeP7iNQ4f2QwTE2Op1AFQjLY4dfMu/rf7DAa1qo9d3gNR1soCQ/7ajnefknIsf+JGBJbt88fg1vVwcM5Q+PRpidM372L5fn+hzPZp/eG/ZLRwWzumOwCgcXXpJV+K0BZNWzfGxBleWPW/dWjn2gP37z7Eut0rYGxilGN5LW0tvHz+Gotnr0Rc7Nt8OSaTPyIiKtADQj5+/AgjIyMEBASgfv36OZYRiUTw8/PD8ePHcfr0aRQtWhSLFy9Gq1athDJ37tzBuHHjcPnyZejq6qJJkyZYsmQJTExMAACnTp3C7NmzcefOHaiqqqJmzZpYtmwZSpUqBSBjOISNjQ1u376NKlWqID09HQMGDMC1a9dw5swZWFtb4/Dhw5gxYwYiIyNhaWmJXr16YcqUKVBTUxPiXL16NU6ePAl/f3+MGzcOPj4+uXoe1DSK5vo5u3blKIKCwzDSa6rwuM+eBGHV6o1YuGhVtvI7tq+Bro4OWrftJWy7evkoQsPuYtjwiQCAl89DsGTpWvy1ZC0AQF+/EKJfhaJv/1HYs+dIrmPLC0WohyLUgesh/XpoqWnkug4XLh5EyK1wjBntLdTh/sNr8F2zGX8t9s1WfvOWFdDR1UYHj/7CtvMBBxARHomRI6bm+BiFCunhTWwEWjTrhoCAa7mK61taSq7rAMhvWyReWJjrOnSbtQ4VbIpicvemAACxmNBk7FJ0aVQd/ZrXyVZ+7raTePomHn7jegrb/rfrDCKevMbmyX1yfIyFO07jUvgDHJ03HCKRKNex6bmMz3VZeW0LW0PLXNdh98mNuBMaiVmTFgl1CAg9hm3r9sBvxeZf7usffBib/96FLX/vzLdjZnUvLijXZfNb/xLtpXbsdc/2Se3Y+aXA9wTr6elBT08Phw4dQnJy8k/LzZgxAx07dkR4eDiaNWuGbt264f379wAyEumGDRuiatWqCA4OxqlTpxAbG4uOHTsK+yclJWH06NEIDg6Gv78/VFRU0LZtW4jF2Tv9k5OT0aFDB4SGhuLy5cuwtrbG5cuX0bNnT4wcORKRkZFYu3YtNm3ahDlz5kjs6+Pjg7Zt2yIiIgJ9+/bNp2fpO3V1dTg4VIb/+cvCNiKC//krqFGjWo771HCuJlEeAM6cDRDK29hYo0gRc/ifvyLc/+nTZ9y8eRs1nHM+5u9ShHooQh0Aroc81UNdXR1Vq1bEhQvfH4+IcOH8VTg5O+S4j5NzVVw4Lzl0zP/cJTg55VxeXV0dffp2wcePnxAREZV/wf/wGAW9LVLT0hH1/A1qlP9+il9FRYQa5W0Q/vhVjvtUsS2GqGdvhCETr+I+4ErEI9StbPvTxzh+Ixxt6lTJUwKcF4rQFurqaqhgb4drl25K1OH6pZuo4lhJbo7J/rwCvzqEmpoaNm3ahAEDBsDX1xcODg6oX78+OnfujMqVKwvlevfujS5dMsb0zJ07F8uXL8fNmzfh7u6OlStXomrVqpg7d65QfsOGDbCyssKDBw9QpkwZeHh4SDzuhg0bYGpqisjISFSsWFHYnpiYiObNmyM5ORkXLlyAgYEBgIwkfOLEiejVK+OXccmSJTFr1iyMHz8e3t7ewv5du3ZFnz45/+LPDyYmxlBTU8t2eicuLh52ZUvluI+FhSli4+IltsXGvoWFuWnG/eZm/2z7oUzcW1hYmOVX6BIUoR6KUAeA6yFP9ShsYvSTOrxFmZ/UwdzcFPFx2cub/1OHTO5NG2LT5uXQ0dFGTEwcWrXsgXfvPuRvBf6hCG3x4fMXpIsJhfV1JbYX1tfF0zc5n15vVqMSPnz+gt7zNgIA0tLF6NCgGvq3qJtj+fMh9/D5yze0ql0lX2PPShHawsjYEGpqangX/15i+9v497CxLSE3x5SFgjJ2V1oKfE8wkDEmODo6GkeOHIG7uzsCAgLg4OCATZs2CWWyJsS6urrQ19dHXFwcACAsLAwXLlwQepX19PRgZ2cHAHj8+DEA4OHDh+jSpQtKliwJfX19lChRAgDw4sULiVi6dOmCpKQknDlzRkiAMx9j5syZEo8xYMAAvHnzBl++fBHKOTo6/mt9k5OT8enTJ4lbAR/VwhiTc5cuXketGs3RyMUDZ89exJatK386JpT9N0H3nmH98SuY0qMZdnkPwF/DOuJy+EOsPXIpx/IHL99G7Uq2MDMq9IcjZUwxKEQSDABaWlpo3Lgxpk2bhmvXrqF3794SPazq6uoS5UUikTCUITExES1btkRoaKjE7eHDh6hXrx4AoGXLlnj//j38/PwQGBiIwMBAAEBKiuQ4t2bNmiE8PBzXr1+X2J6YmIgZM2ZIHD8iIgIPHz6ElpaWUE5XV7LXICfz5s2DgYGBxI3En3P1PL19+x5paWkwMzeR2G5mZoqYH36VZ4qJiYe5mWSvkLm5iVA+Jjbun20/lDEzQUxMXK7iyitFqIci1AHgeshTPd69/fCTOphk63XLFBsbD1Ozfy//5ctXPHnyHEFBoRg2ZCLS0tLQs1dHSIMitIVRIR2oqoiyTYJ79ykJJgZ6Oe6z6uAFtKhVGe3qOaB0MXM0qmYHT4+G2HDiCsRiyY6O6LcfERj5FO3q5TxsJb8oQlt8eP8RaWlpKGwqOZHTxNQYb+P+2wR6aRxTFkiK/xUECpME/6h8+fJISsp5Bu6PHBwccPfuXZQoUQK2trYSN11dXbx79w7379/H1KlT0ahRI5QrVw4fPuR8GnDIkCGYP38+WrVqhYsXL0o8xv3797Md39bWFioqeWuGSZMmISEhQeImUsldT0BqaipCQsLR0OX7pAyRSISGLnVw48atHPe5EXgLDRtKTuJwbVRPKP/06Qu8eRMrccxChfTg5FQVNwJzPubvUoR6KEIdAK6HPNUjNTUVt2/fQYMGtSXq0MClFm4GhuS4z83A22jgUltim0vDOrh5M+fymVRUVKCpmfsJe3mhCG2hrqaKcsWLIDDqqbBNLCYERj1F5VLFctznW0patrG9qqKM74cfk4rDV0JhrK+LupVL53PkkhShLVJT03A37B5q1q0uUYcadasjNDhCbo4pC8q+RFqBHxP87t07dOjQAX379kXlypVRqFAhBAcHY+HChWjdunWujjFs2DD4+fmhS5cuGD9+PIyNjfHo0SPs2rUL69atg5GREQoXLoy///4bRYoUwYsXLzBx4sSfHs/T0xPp6elo0aIFTp48iTp16mD69Olo0aIFrK2t0b59e6ioqCAsLAx37tzB7Nmz81RnTU3NbMvI5GVSxJJlfti4fgluhYQjKOg2RngOgK6uNjZt3g0A2LhhGaKj32DK1PkAgBUr1uO8/z6M8hqEEyfPoVPH1qhWrTIGD/0+u3j5inWYPGkEHj56gmfPXmKGzzhER8fi8OHTeapbXihCPRShDlwP+arHyuXrsNZvMUJCwnErOAzDhveFjo4Otm3NmKn9t99iREfHwMc7Y0b76lUbcerMLniO6I/Tp86jfYeWcHCohBHDJwMAdHS0MW7CMJw4dg4xMfEobGKEgYN6wNLSAgcPSG9tWkVoix5uNTFt3SFUKGGJijaW2HY2EF+TU9GmThUAwBS/QzAzKoSR7RsBAOrbl8bWMzdgZ22BSiWL4mXce6w6dAH17MtANUtniVhMOHw1DC1rVYaaqvT7shShLTb57sD8Fd64ExaF8JC76DWoC7R1tHFg11EAwPyVPoh7E4+/5mSsdqGuroZSZUtm/FtDHeZFTGFXsQy+JH3Bi6evcnVMJv8KfBKsp6cHZ2dnLFmyBI8fP0ZqaiqsrKwwYMAATJ48OVfHsLS0xNWrVzFhwgQ0adIEycnJKF68ONzd3aGiogKRSIRdu3ZhxIgRqFixIsqWLYvly5ejQYMGPz2ml5cXxGIxmjVrhlOnTsHNzQ3Hjh3DzJkzsWDBAqirq8POzg79+/f/6TGkZe/eIzA1MYbP9LGwsDBFWNhdNG/RHXH/TI6xtrKUWPXi+o1gdO85HDNnjMfsWRPw8NFTeLTvh7t37wtlFv1vNXR1deC7eiEMDfVx9WoQmrfs/ssVO7geilEHrod81WP//uMwMS2MqdNGw9zcBOHhUWjbprdQB6sf6hAYGIK+vb0wzXsMfGaMxeNHz9C50yBERj4AAKSnp6NsmVLottMDhQsb4f37j7h1KxxNGndEVNRDqdQBUIy2cHeqgA+fk7D6UADeJiSirJU5Vo/qisL/DIeIeZ8AFZXvHRgDWtaDSCTCqoMXEPfhM4wK6aC+fRkM95C80MSNyCd48y4BbepWlUrcP1KEtjh5+CyMCxvCc/wgmJoVRtSdBxjQeYQwsc2yqAUoy5ATMwtTHDq/Xfi737Ae6DesB25evYWebQfn6pgFgVjJ5xMV+HWCWYa8rBPMGCtY8rJOsLzK6zrB8iov6wTLs7ysEyyv8rJOsDyT5TrBPYq3k9qxtz4/ILVj55cC3xPMGGOMMcbyTtl7QRV2YhxjjDHGGGM/wz3BjDHGGGNKSKzkfcHcE8wYY4wxxpQO9wQzxhhjjCmhgnJRC2nhJJgxxhhjTAkVlItaSAsPh2CMMcYYY0qHe4IZY4wxxpQQT4xjjDHGGGNMyXBPMGOMMcaYElL2iXHcE8wYY4wxxpQOJ8GMMcYYY0pILMVbXq1atQolSpSAlpYWnJ2dcfPmzZ+W9fPzQ926dWFkZAQjIyO4urr+svzPcBLMGGOMMcZkZvfu3Rg9ejS8vb0REhICe3t7uLm5IS4uLsfyAQEB6NKlCy5cuIDr16/DysoKTZo0wevXr/P0uJwEM8YYY4wpISKS2i0v/vrrLwwYMAB9+vRB+fLl4evrCx0dHWzYsCHH8tu3b8fQoUNRpUoV2NnZYd26dRCLxfD398/T4/LEOMYYY4wxJSTNJdKSk5ORnJwssU1TUxOampoS21JSUnDr1i1MmjRJ2KaiogJXV1dcv349V4/15csXpKamwtjYOE8xck8wY4wxxhjLV/PmzYOBgYHEbd68ednKvX37Funp6TA3N5fYbm5ujpiYmFw91oQJE2BpaQlXV9c8xcg9wYwxxhhjSkial02eNGkSRo8eLbHtx17g/DB//nzs2rULAQEB0NLSytO+nAQzxhhjjLF8ldPQh5yYmJhAVVUVsbGxEttjY2NhYWHxy33/97//Yf78+Th37hwqV66c5xg5CWYsn6mqKMYoI7FYmn0Ef4aiLAOfnJYi6xDYPwq5jJd1CPni68vzsg7ht2lbNZR1CAWePFwsQ0NDA9WqVYO/vz/atGkDAMIkt+HDh/90v4ULF2LOnDk4ffo0HB0d/9NjcxLMGGOMMcZkZvTo0ejVqxccHR3h5OSEpUuXIikpCX369AEA9OzZE0WLFhXGFC9YsADTp0/Hjh07UKJECWHssJ6eHvT09HL9uJwEM8YYY4wpIWmuDpEXnTp1Qnx8PKZPn46YmBhUqVIFp06dEibLvXjxAipZzrKuWbMGKSkpaN++vcRxvL294ePjk+vHFVFeF3NjcklNo6isQ2D/4OEQ8kNRPtxEsg4gH3BbyJcvPBxCbqSl5O0CD/mpmXUzqR37xIsTUjt2fuGeYMYYY4wxJaTs/aCK0WXFGGOMMcZYHnBPMGOMMcaYEir4g95+DyfBjDHGGGNKSB6WSJMlHg7BGGOMMcaUDvcEM8YYY4wpIXlZIk1WuCeYMcYYY4wpHe4JZowxxhhTQrxEGmOMMcYYY0qGe4IZY4wxxpQQjwlmjDHGGGNMyXBPMGOMMcaYElL2dYI5CWaMMcYYU0JinhjH/ovevXtDJBIJt8KFC8Pd3R3h4eGyDi1XhgzuhUcPbiDx02Ncu3IU1R2r/LK8h0cL3Im4iMRPj3E75ByaujfMVsbHeyxePg/B54RHOH1yF2xtbaQU/XeKUI/Bg3rh/v1rSPj4EJcvHYHjv9ShXbvmCA+7gISPD3Er+Czc3Vwk7m/d2h3Hj21H9OtwJH97icqVy0sx+u+GDO6Fhw9u4POnx7iay7aIiLiIz/+0hfsPbdGmTVOcOL4DMW/uIDXlNeztK0gx+u8U4TXFbcFtkd92HjiOJh37w8HVA10GjUVE5IOflk1NS8OaTbvg3nkgHFw90K7PCFwJvJWtXGz8O0yYtRi1W3RDNdf2aNvLE3fuPZRmNRTiNcXyDyfBv8Hd3R1v3rzBmzdv4O/vDzU1NbRo0ULWYf2rDh1a4X+LvDFr9l+o7uyOsPBInDi+HaamhXMsX7OGI7ZvXYWNG3fC0ckNR46cxv5961GhQlmhzLixQzF8WF8MHT4Rteq0RNKXLzhxbDs0NTW5Hr/Qvn1LLFw4DXPmLIVzjWaIiIjEsaNbf1qHGjWqYeuWldi0aRecnZviyNHT2Lt3HcqX/14HXV0dXL12E1OmzpVKzDnp0KEVFi3yxuzZf8HJ2R3h4ZE4/i9tse2ftqju5IbDObRFZj0mT57zp6qhEK8pbgtui/x20v8yFq5ajyG9O2PvuiUoa1sCg8Z6492HjzmWX+G3DXuPnMLkkQNxeMsqdGztjpFT5iHqwWOhTMLnRPQYNgHqamrwXeiNw1tWYuywvtAvpCe1eijCayq/kRRvBYGIlH2RuP+od+/e+PjxIw4dOiRsu3LlCurWrYu4uDiYmppiwoQJOHjwIF69egULCwt069YN06dPh7q6urDP7NmzsXz5cnz9+hWdOnWCiYkJTp06hdDQ0DzFo6ZRNNdlr105iqDgMIz0mgoAEIlEePYkCKtWb8TCRauyld+xfQ10dXTQum0vYdvVy0cRGnYXw4ZPBAC8fB6CJUvX4q8lawEA+vqFEP0qFH37j8KePUfyVJeCXg9Vldz/trx86Qhu3QqD16hpQh0eP7qJ1Ws24n//W52t/Latq6Grq4227foI2y5dPIzw8LsY7jlZomzx4sXw4P51VHdyQ3h4ZK5jyiQWi3Nd9uqVowj+oS2e/tMWi3Joi+3/tEWbLG1x5fJRhGVpi6z1ePQwEI7VmyAs7G6e6pDXDzd5fU2J8lAHbgtui9z48vJ8rst2GTQWFe1sMWXUYAAZnw2u7fuia7sW6N+9fbbyLm17Y2CPDujSrrmwzWvqPGhqamDBtDEAgCW+m3H7ThS2rJyf59gzaVtl75X9FXl9TaWlvM5TPfJT3aKNpHbsy6/9pXbs/MI9wfkkMTER27Ztg62tLQoXzvhVWahQIWzatAmRkZFYtmwZ/Pz8sGTJEmGf7du3Y86cOViwYAFu3boFa2trrFmzRqpxqqurw8GhMvzPXxa2ERH8z19BjRrVctynhnM1ifIAcOZsgFDexsYaRYqYw//8FeH+T58+4+bN26jhnPMxf5ci1COjDpVwPsvjERHOX7j808dzruEgUR4Azp67CGcpPc+58bO2OP8vbXH+F20hC4rzmuK2yMRt8ftSU1MR+eARamQZNqCiooIa1ewRdvdejvukpKZCQ0NdYpumpgZuR0QJf1+4ehMVytpi9PT5qNeqB9r3G4l9R09LpQ6AYrympEEMktqtIOAk+DccO3YMenp60NPTQ6FChXDkyBHs3r0bKv/0BE6dOhW1atVCiRIl0LJlS4wdOxZ79uwR9l+xYgX69euHPn36oEyZMpg+fToqVaok1ZhNTIyhpqaGuNi3Etvj4uJhYW6a4z4WFqaIjYuX2BYb+1Yob2Fu9s+2H8rEvYWFhVl+hS5BEeqRWYcfY4qLfQvzn9XB3BSxcW9zXf5P+FlbxOaxLeS1HgXxNcVtkYHb4vd9SPiE9HQxChsZSmwvbGyIt+8/5rhPbaeq2LLnMJ6/jIZYLMa1oNvwv3Qd8e/eC2VevYnB7sMnYV3MEmv/54NOrZti3jI/HD4pnd5DRXhNsfzHq0P8BhcXF6Hn9sOHD1i9ejWaNm2Kmzdvonjx4ti9ezeWL1+Ox48fIzExEWlpadDX1xf2v3//PoYOHSpxTCcnJ5w//+vTVMnJyUhOTpbYRkQQifJyoo4xxhjLfxNHDIDPwpVo2WMoRCLAyrII2jR1xcET54QyYjGhQllbeA3sCQAoV6YUHj59gT1HTqF1U+mdomeSCkqPrbRwT/Bv0NXVha2tLWxtbVG9enWsW7cOSUlJ8PPzw/Xr19GtWzc0a9YMx44dw+3btzFlyhSkpKT89uPOmzcPBgYGEjcSf87Vvm/fvkdaWhrMzE0ktpuZmSLmh1+zmWJi4mFuJvlL2dzcRCgfExv3z7YfypiZICYmLldx5ZUi1COzDj/GZGZukq1nIVNMbDzMzUxyXf5P+FlbmOexLeS1HgXxNcVtkYHb4vcZGehDVVUl2yS4d+8/wsTYMMd9jA0NsHzuFASd3oMze9bj6LbV0NHWQjFLc6GMaWEjlCphJbFfyeLF8EZKdVWE1xTLf5wE5yORSAQVFRV8/foV165dQ/HixTFlyhQ4OjqidOnSeP78uUT5smXLIigoSGLbj3/nZNKkSUhISJC4iVQK5SrG1NRUhISEo6FLHYm4G7rUwY0b2ZewAYAbgbfQsGEdiW2ujeoJ5Z8+fYE3b2IljlmokB6cnKriRg7L4uQHRahHRh0i4OJSW6IOLg3q/PTxAm+ESJQHgEYN6yJQSs9zbvysLVz+pS1cftEWsqA4rylui0zcFr9PXV0d5cvYIvBWmLBNLBYjMCQc9hXsfrmvpqYGzE0LIy09HWcvXYNLHWfhvqqVyuHZS8kJYc9fRqOIuXSGESjCa0oaiEhqt4KAh0P8huTkZMTExADIGA6xcuVKJCYmomXLlvj06RNevHiBXbt2oXr16jh+/DgOHjwosb+npycGDBgAR0dH1KpVC7t370Z4eDhKliz5y8fV1NTMtvxKXoZCLFnmh43rl+BWSDiCgm5jhOcA6OpqY9Pm3QCAjRuWITr6DaZMzZi1u2LFepz334dRXoNw4uQ5dOrYGtWqVcbgoeOFYy5fsQ6TJ43Aw0dP8OzZS8zwGYfo6FgcPiy9iQ6KUI9ly/2wft1fuBUSjuCgUHh69oOurja2bMkYO75+/RJER8dg2rQFAICVq9bj3Nm98Bo5ECdP+qNDx1aoVq0yhg77PnPcyMgQVlaWsCyS0etSpkwpABnj1qTVo7R0mR825NAWm7O0xevoN5j6T1usXLEe/v774OU1CCdPnkPHf9piSJa2MDIyhLV1URT5oR4xMXFSq4civKa4Lbgt8lvPjq0xZd5SVChri4rlymDb3iP4+vUb2jTLGLYwac4SmJkYY9SgjFUUwiPvIzb+HexKl0Rc/Dus3rgTJCb07dJOOGaPDq3RY+h4/L11D9xd6iAi6iH2HT0N77HDpFIHQDFeU/lN2YdDcBL8G06dOoUiRYoAyFgJws7ODnv37kWDBg0AAKNGjcLw4cORnJyM5s2bY9q0afDx8RH279atG548eYKxY8fi27dv6NixI3r37o2bN29KNe69e4/A1MQYPtPHwsLCFGFhd9G8RXfE/TPhytrKUmJ5rOs3gtG953DMnDEes2dNwMNHT+HRvh/u3r0vlFn0v9XQ1dWB7+qFMDTUx9WrQWjesnu2sctcD0n79h2FqYkxpk8fAwtzU4SFRaJlqx5CHaysikIs/v4hdePGLfTs5YkZPuMwc+Z4PHr0DB069Edk5Pc6tGjRGOv8/hL+3r4tY6m1WbP/wuzZ31cnyU+ZbeGdpS1aZGkLqxzaokfP4Zjxi7Zo2aIJ1q//Hu+O7Rnj72fOWoxZs77XTxr1KMivKW4Lbov81rRRXXz4mICVG3bg7fsPsLMtCd//+cDE2AgA8CY2HipZOmKSU1KxYt12vHoTAx1tLdSt4Yh5U0dJrAFcqVxpLJ0zGcvWboHv5t0oamGOCZ790aJJA6nUAVCM1xTLX7xOsJxp3LgxLCwssHXr1jztl5d1gpl05WWdYHmWl3WC5ZWifLgpwpRXbgv5kpd1guVVXtcJlleyXCe4umU9qR07KPqS1I6dX7gnWIa+fPkCX19fuLm5QVVVFTt37sS5c+dw9uxZWYfGGGOMMabQOAmWIZFIhBMnTmDOnDn49u0bypYti/3798PV1VXWoTHGGGNMwSn7YABOgmVIW1sb586d+/eCjDHGGGMsX3ESzBhjjDGmhJR9dQjFmMHDGGOMMcZYHnBPMGOMMcaYEuIxwYwxxhhjTOnwcAjGGGOMMcaUDPcEM8YYY4wpIeKeYMYYY4wxxpQL9wQzxhhjjCkhsZJPjOOeYMYYY4wxpnS4J5gxxhhjTAnxmGDGGGOMMcaUDPcEM8YYY4wpIWUfE8xJMGOMMcaYEuLhEIwxxhhjjCkZ7glmjDHGGFNCPByCMZav0sViWYfAFIxIJJJ1CL+NFOTLVlVFVdYh5Attq4ayDuG3fY2+LOsQWAHHSTBjjDHGmBLiMcGMMcYYY4wpGe4JZowxxhhTQso+Jph7ghljjDHGmNLhnmDGGGOMMSWk7GOCOQlmjDHGGFNCRMq9mhEPh2CMMcYYY0qHe4IZY4wxxpSQWMmHQ3BPMGOMMcYYUzrcE8wYY4wxpoQU5UqO/xX3BDPGGGOMMaXDPcGMMcYYY0qIxwQzxhhjjDGmZLgnmDHGGGNMCSn7mGBOghljjDHGlJBYyZNghRgO4ePjgypVqvz0/k2bNsHQ0PC3HqN3795o06bNbx2DMcYYY4zJB7lIgq9fvw5VVVU0b95c1qHIXIMGDeDl5SX1xxkyuBcePbiBxE+Pce3KUVR3rPLL8h4eLXAn4iISPz3G7ZBzaOreMFsZH++xePk8BJ8THuH0yV2wtbWRUvTfKUI9FKEOANdDnuoxeHAvPLh/HZ8SHuHK5aNw/Lc6tGuOiPAAfEp4hJBb5+D+Qx3atG6K48e34010BFKSX8G+cnkpRv+dIrTFoEE9cf/+VXz8+ACXLh2Go6P9L8u3a9ccYWHn8fHjAwQHn4Gbm4twn5qaGmbPnoTg4DN49+4enjwJwvr1S1CkiLlU6wAoRlvs3H8UTTx6wcGlFboM8EJE5P2flk1NS8OaDdvh3qEPHFxaoV2vobhyI1iiTBOPXqhYu2m22+zFq6Raj/xEUvyvIJCLJHj9+vXw9PTEpUuXEB0dLetwFF6HDq3wv0XemDX7L1R3dkdYeCROHN8OU9PCOZavWcMR27euwsaNO+Ho5IYjR05j/771qFChrFBm3NihGD6sL4YOn4hadVoi6csXnDi2HZqamlwPBa8D10O+6tGhfUssWjgds+csgbNzU4RHROL4sW0/rUONGtWwdesqbNy0C07O7jhy5BT27V2HCuW/10FXVwfXrgZh8pS5Uok5J4rQFu3bt8TChdMwZ85S1KjRHBERUTh69NdtsWXLCmzatBvOzs1w9Ohp7N3rh/LlywAAdHS0UbVqRcybtxw1ajRD584DUbp0Sezbt14q8WdShLY4ee4iFq74G0P6dsPeDStQ1tYGg0ZPxbsPH3Msv+Lvzdh7+CQmjxqCw9vWomObZhg5aRaiHjwSyuxatwwBR7YLN7+lGe+PJi51pVIHJgUkY58/fyY9PT26d+8ederUiebMmSNx/4ULFwgAnTt3jqpVq0ba2tpUs2ZNunfvnlDG29ub7O3thb8fPXpENjY2NGzYMBKLxbRx40YyMDCQOO6hQ4eoatWqpKmpSTY2NuTj40Opqak/jbNXr17UunVr8vHxIRMTEypUqBANGjSIkpOThTLfvn0jT09PMjU1JU1NTapduzbdvHlT4jgBAQFUvXp10tDQIAsLC5owYYLwuL169SIAErenT5/m6nlUVbfM9S0w8BatXLVB+FtNoyi9ehVNkybPybH87j2H6dixsxLbbty4Rb5rtwh/R0fH0LjxM4S/jQqXpa9fv1KXboPzFJuy1UMR6sD1kH491DWK5voWGBhCq1ZvFP7W0CxGr169ocmT5+ZYfs+ew3Ts+FmJbTdu3KK1f2/JVta2tDMRETk6Ns5TTOoaRRWmLTQ1rXJ9CwwModWrNwp/a2lZ06tXb2jKlHk5lt+z5wgdP35OYtuNG7fo77+3/vQxatVqTkREtrbOeYpNEdoiJf5xrm8ebVqS98Qxwt/fYh9SnVo1afVf83IsX7tmDdrsu1Ri29ABfWjU8EE/fYyZU8ZRI5f6lBz3KE+xyZKZflmp3QoCmfcE79mzB3Z2dihbtiy6d++ODRs25DhbccqUKVi8eDGCg4OhpqaGvn375ni88PBw1KlTB127dsXKlSshEomylbl8+TJ69uyJkSNHIjIyEmvXrsWmTZswZ86cX8bq7++PqKgoBAQEYOfOnThw4ABmzJgh3D9+/Hjs378fmzdvRkhICGxtbeHm5ob3798DAF6/fo1mzZqhevXqCAsLw5o1a7B+/XrMnj0bALBs2TLUrFkTAwYMwJs3b/DmzRtYWVnl+rnMDXV1dTg4VIb/+cvCNiKC//krqFGjWo771HCuJlEeAM6cDRDK29hYo0gRc/ifvyLc/+nTZ9y8eRs1nHM+5u9ShHooQh0Aroc81SOjDpVw/oc6nD9/GTVqOOS4j7NzNYnyAHD27EWpPc+5oVht8f3xiAgXLlyBs3PObVGjhoNEeQA4d+7ST8sDgIGBPsRiMT5+/JQ/gf9AEdoiNTUVkfcfokb1KsI2FRUV1HCsgrA7UTnuk5KaCg0NDYltmpoauB1+96ePcezMBbRt3iTHvIPJJ5knwevXr0f37t0BAO7u7khISMDFixezlZszZw7q16+P8uXLY+LEibh27Rq+ffsmUebatWto0KABxo4dKySWOZkxYwYmTpyIXr16oWTJkmjcuDFmzZqFtWvX/jJWDQ0NbNiwARUqVEDz5s0xc+ZMLF++HGKxGElJSVizZg0WLVqEpk2bonz58vDz84O2tjbWr884VbV69WpYWVlh5cqVsLOzQ5s2bTBjxgwsXrwYYrEYBgYG0NDQgI6ODiwsLGBhYQFVVdW8PqW/ZGJiDDU1NcTFvpXYHhcXDwtz0xz3sbAwRWxcvMS22Ni3QnkLc7N/tv1QJu4tLCzM8it0CYpQD0WoA8D1kKd6ZNbhx8eLi3sLc/OcH8/CwjRbnWPj4mH+kzr/CYrUFnFxPzy3sW9/+tyam5siLlsdft4WmpqamD17EvbsOYzPnxPzJ/AfKEJbfPj4CenpYhQ2NpLYXtjYCG/ff8hxn9rO1bBl1wE8f/kaYrEY126GwP/iNcS/e59jef9L1/E5MRFtmjXO9/ilSQyS2q0gkOkSaffv38fNmzdx8ODBjGDU1NCpUyesX78eDRo0kChbuXJl4d9FihQBAMTFxcHa2hoA8OLFCzRu3Bhz5sz514llYWFhuHr1qkTPb3p6Or59+4YvX75AR0cnx/3s7e0l7qtZsyYSExPx8uVLJCQkIDU1FbVr1xbuV1dXh5OTE6KiMn5pRkVFoWbNmhK/EmvXro3ExES8evVKqMu/SU5ORnJyssQ2IuJfn4wxpiTU1NSwfftqiESAp+cUWYejcCaOHASfBcvRsutAiESAlWURtGneGAePncmx/IFjp1GnhiPMfjJOmsknmfYEr1+/HmlpabC0tISamhrU1NSwZs0a7N+/HwkJCRJl1dXVhX9nJntisVjYZmpqCicnJ+zcuROfPv36tFBiYiJmzJiB0NBQ4RYREYGHDx9CS0srH2soHfPmzYOBgYHEjcSfc7Xv27fvkZaWBjNzE4ntZmamiPnhV3mmmJh4mJtJ/uI3NzcRysfExv2z7YcyZiaIiYnLVVx5pQj1UIQ6AFwPeapHZh1+fDwzMxPExub8eDEx8dnqbG5mmq2X7k9SpLYwM/vhuTU3+elzGxsbD7NsdcjeFpkJsLV1UTRv3k1qvcCAYrSFkaE+VFVV8O6HXt937z/A5Ife4UzGRoZYPn86gs4dxJn9m3F0px90tLVQzNIiW9nomFjcCA6FR0v3fI9d2ohIareCQGZJcFpaGrZs2YLFixdLJKNhYWGwtLTEzp0783Q8bW1tHDt2DFpaWnBzc8Pnzz9PCh0cHHD//n3Y2tpmu6mo/PwpCQsLw9evX4W/b9y4AT09PVhZWaFUqVLQ0NDA1atXhftTU1MRFBSE8uUzlhMqV64crl+/LvHiuHr1KgoVKoRixYoByBhykZ6e/su6Tpo0CQkJCRI3kUqhXz9BWWIKCQlHQ5c6wjaRSISGLnVw48atHPe5EXgLDRvWkdjm2qieUP7p0xd48yZW4piFCunByakqbgTmfMzfpQj1UIQ6AFwPeapHRh0i4PJDHVxc6uDGjZAc9wkMvCURHwA0alRXas9zbihWW3w/OygSidCgQW0EBubcFjduhEiUB4CGDetIlM9MgG1tbdCsWVe8f/8x32PPShHaQl1dHeXLlkZgcKiwTSwWI/BWKOwrlvvlvpqaGjA3NUFaejrOBlyFS92a2cocPH4WxkYGqFfTKb9DlzoxkdRuBYHMhkMcO3YMHz58QL9+/WBgYCBxn4eHB9avX4/Bgwfn6Zi6uro4fvw4mjZtiqZNm+LUqVPQ09PLVm769Olo0aIFrK2t0b59e6ioqCAsLAx37tz55VjilJQU9OvXD1OnTsWzZ8/g7e2N4cOHQ0VFBbq6uhgyZAjGjRsHY2NjWFtbY+HChfjy5Qv69esHABg6dCiWLl0KT09PDB8+HPfv34e3tzdGjx4tJN8lSpRAYGAgnj17Bj09PRgbG2dLzDU1NbMtI5OXoRBLlvlh4/oluBUSjqCg2xjhOQC6utrYtHk3AGDjhmWIjn6DKVPnAwBWrFiP8/77MMprEE6cPIdOHVujWrXKGDx0vHDM5SvWYfKkEXj46AmePXuJGT7jEB0di8OHT+c6rrxShHooQh24HvJVj2XL/sb69UsQcisMQcGh8PTsD11dbWzeklGHDeuXIjo6BlOn/VOHlevhf24fvLwG4uRJf3TskFGHoUMnCMc0MjKEtZUlivzTC1amTCkAQExsvNR6jBWhLZYvX4d16xYjJCQCQUGh8PTsB11dHWzZsgcAsH79EkRHx2DatAUAgFWrNuDs2T0YOXIATp48j44dW6FatcoYNmwigIwEeOdOX1StWhFt2/aBqqqq0Jv6/v1HpKamSqUeitAWPTu1xZQ5i1HBrjQqli+LbXsO4eu3ZLRpnjGGd9Ks/8HMpDBGDekDAAi/ew+x8e9gV7ok4uLfYfWGbSAi9O3WXuK4YrEYh46fReumrlBTy985PEz6ZJYEr1+/Hq6urtkSYCAjCV64cCHCw8PzfFw9PT2cPHkSbm5uaN68OU6cOJGtjJubG44dO4aZM2diwYIFUFdXh52dHfr37//LYzdq1AilS5dGvXr1kJycjC5dusDHx0e4f/78+RCLxejRowc+f/4MR0dHnD59GkZGGadbihYtihMnTmDcuHGwt7eHsbGxkFRnGjt2LHr16oXy5cvj69evePr0KUqUKJHn5+FX9u49AlMTY/hMHwsLC1OEhd1F8xbdhQkc1laWEkNNrt8IRveewzFzxnjMnjUBDx89hUf7frh79/tC44v+txq6ujrwXb0Qhob6uHo1CM1bds82dpnroXh14HrIVz327jsKE9PCmC7UIRItWvYQ6mBlVVSiDjdu3ELPnsMxY8Z4zJo5AY8ePUX7Dv1xN8uFBFq0aIz165YIf2/fvgYAMGvWX5g1+y/p1EMB2mLfvqMwMTHG9OmjYW6e0RatWmVtC8tsbdGr1wj4+IzFzJnj8ejRM3ToMACRkQ8AAEWLWqBlyyYAgKAgyWSxSZOOuHTphlTqoQht0dS1Pj58TMDKddvw9v172JUuBd/Fs4ThEG9i46CSpTMpOSUFK/w241V0DHS0tVG3ZnXMmzYO+oUkO9auB93Gm9g4tG3eRCpxS1tBGbYgLSJS9mdAQahpFJV1CIwxKVFRgEmvBeX06L9RU1GM3r408a+H3RUEX6Mv/3uhAkDdpKTMHttIz1Zqx/6Q+OjfC8mYTFeHYIwxxhhjslFQljKTFpmvE8wYY4wxxtifxj3BjDHGGGNKSNlHxHJPMGOMMcYYUzrcE8wYY4wxpoQUZcLqf8U9wYwxxhhjTOlwTzBjjDHGmBIiJV8dgpNgxhhjjDElxMMhGGOMMcYYUzLcE8wYY4wxpoR4iTTGGGOMMcaUDPcEM8YYY4wpIWWfGMc9wYwxxhhjTOlwTzBjjDHGmBLiMcGMMcYYY4zJ0KpVq1CiRAloaWnB2dkZN2/e/GX5vXv3ws7ODlpaWqhUqRJOnDiR58fkJJgxxhhjTAkRkdRuebF7926MHj0a3t7eCAkJgb29Pdzc3BAXF5dj+WvXrqFLly7o168fbt++jTZt2qBNmza4c+dOnh5XRMreF64g1DSKyjoExpiUqIhEsg7htynKovxqKqqyDiFfpInTZR3Cb/safVnWIeQLdZOSMntsaeYOaSmvc13W2dkZ1atXx8qVKwEAYrEYVlZW8PT0xMSJE7OV79SpE5KSknDs2DFhW40aNVClShX4+vrm+nG5J5gxxhhjjOWr5ORkfPr0SeKWnJycrVxKSgpu3boFV1dXYZuKigpcXV1x/fr1HI99/fp1ifIA4Obm9tPyP0WM5cK3b9/I29ubvn37JutQ/jNFqAORYtRDEepAxPWQJ4pQByLFqIci1IFIceohK97e3gRA4ubt7Z2t3OvXrwkAXbt2TWL7uHHjyMnJKcdjq6ur044dOyS2rVq1iszMzPIUIw+HYLny6dMnGBgYICEhAfr6+rIO5z9RhDoAilEPRagDwPWQJ4pQB0Ax6qEIdQAUpx6ykpycnK3nV1NTE5qamhLboqOjUbRoUVy7dg01a9YUto8fPx4XL15EYGBgtmNraGhg8+bN6NKli7Bt9erVmDFjBmJjY3MdIy+RxhhjjDHG8lVOCW9OTExMoKqqmi15jY2NhYWFRY77WFhY5Kn8z/CYYMYYY4wxJhMaGhqoVq0a/P39hW1isRj+/v4SPcNZ1axZU6I8AJw9e/an5X+Ge4IZY4wxxpjMjB49Gr169YKjoyOcnJywdOlSJCUloU+fPgCAnj17omjRopg3bx4AYOTIkahfvz4WL16M5s2bY9euXQgODsbff/+dp8flJJjliqamJry9vXN1akNeKUIdAMWohyLUAeB6yBNFqAOgGPVQhDoAilOPgqBTp06Ij4/H9OnTERMTgypVquDUqVMwNzcHALx48QIqKt8HL9SqVQs7duzA1KlTMXnyZJQuXRqHDh1CxYoV8/S4PDGOMcYYY4wpHR4TzBhjjDHGlA4nwYwxxhhjTOlwEswYY4wxxpQOJ8GMMcYYY0zpcBLMGGMsV0JCQmQdAmOM5RtOghn7hczFU168eCHjSPIfLwwjXUQEsVgs6zDyzfXr1+Ho6IhVq1bJOpQ8S09Pl3UITIll/axVpM8ERcBJMPujCtoHgEgkwqFDh9ChQwfcvXtX1uH8lswP4sjISKSnp0MkEsk4IsWUnJwMIOO18/LlSxlHk39q1qyJ2bNnY/To0VizZo2sw/mlzM+Zz58/AwBUVVURGhqKmJgYWYYldZnv8YsXL+Ls2bMyjua7Hz/3le0HuEgkQkxMDKKioqCiooJ9+/bhwIEDsg6LgZNg9geJxWJhseujR4/C19cXp06dwuPHj2UcWXaZH9IvX77EsmXL0L9/f1SoUEHGUf0ekUiEI0eOoFWrVggMDJR1OL+U+fzfuHEj26Ux5dnjx48xZcoUfPjwAXv37oWNjY1cvr7/q8mTJ2PmzJkYPny4XCfCKioqiI6ORpcuXXDy5EkcPnwYDg4OCvWjJKvM94tIJMKFCxfQrFkzJCUlIS0tTcaRZcj83A8NDQUApfsBnpCQgK5du2LJkiVYtmwZOnbsiKSkJFmHxQCAGPvDxo8fT3p6elS5cmUyNDSkevXq0ebNm2UdVjaXLl2iMWPGUOvWrSk2NlbW4fxnYrGYiIiio6Opbdu2tHr1ahlH9GuZ8e7fv58sLS1p8ODB9OrVKxlHlTsHDx4kPT09cnd3Jy0tLdq0aRMRfa+Topg/fz6pqKjI9Wvp9u3b5OHhQRUqVCBNTU3asWMHERGlp6fLODLpef36NS1cuJBmz55NRLJ/3WV9ri9fvkxmZmZCOyibbdu2ka2tLYlEIpo3bx4Ryb59GBFfNpn9UUFBQTh37hxOnz6NWrVqITg4GGvXrsWyZcugqamJTp06yTpEQXBwMP766y/o6+vj1atXMDMzk3VI/4lIJMKlS5ewdu1afPz4ES4uLgAyeo/ksUdGJBLh7Nmz6N69O1auXImuXbtCS0tL1mHlSps2beDp6Yn58+fDxcUFrq6uADLqJK/P938xYcIEEBGGDx8OABgyZIiMI/qOiEBEqFKlClq0aIEDBw7A1tYWhQoVApDRK5n1rJQiICI8f/4cJUuWhJGRESZNmgRAtj2uWZ/jbdu24dq1a0hKSsKECRMgFovRrVs3mcX2J2W+7+vUqYO0tDQUK1YMr169wt27d4Wzi4r02VDQKM6nAJN7CxYsgK+vL8qVK4caNWoAABwdHeHl5QUbGxscOnQIaWlpcjNebNSoUfDz84OKigo2bNiAZ8+eyTqk/yw9PR1nzpzBxYsXERkZCeB7YiZvUlJScPDgQQwdOhR9+/ZFcnIygoODMWrUKHh7e+P+/fuyDjFHmZOvtLS0MGrUKDx8+BBz5szBvXv3AMjv8/0rlGUc+ZUrV3Dq1CnhvokTJ2L27NlyNzRCJBJBRUUFu3fvxoEDB+Dn5wcnJycsWLAAe/bsAfA9EVYEmQlUiRIlsGTJEnz48AG3b9/G27dvZRpXZgI8ceJEjBs3DpUrV8a0adNQokQJzJgxA5s2bZJpfH9KZnJrZmaG8+fPY9asWbh27RqWLVsmzDPhBFiGZNL/zJTStGnTSCQSkY2NDb148ULivh07dpCamho9efJEJrFlnpZ68OAB3bx5k86dOyfct3z5crK0tKTJkyfT8+fPZRJffrh69SqVKFGCWrRoQcHBwcJ2eTwl16VLF6patSo9ffqUevToQQ0bNqRatWqRqakptWvXTtbh5crOnTupWLFiNHjwYLp3756wPSwsTIZR5V7m6+LAgQNkZWVFFSpUoEKFClHbtm0pKipKKDd37lzS1NSkxYsXyypUQWbMjx49Ij09PVqxYgUREQUFBVHHjh2pTp06tHfvXqH86dOnKSYmRiax/q7Muv44vGPx4sUkEolo/vz5lJCQIIvQBI8ePSI7Ozs6ePCgsC00NJQGDBhAJUuWpJ07d8ouOCnLbJ/nz59TZGQkPX78WLjPz8+PqlatSoMGDaI7d+4QEdGsWbMknif2Z3ASzKTiZ+Puli1bRiKRiGbOnElv374VtgcGBpKdnR3dv3//T4UoyDoG1c7Ojuzs7Kh8+fLk4OBAL1++FOIuWrQoTZs2jZ4+ffrHY8yLzPqEh4fToUOHaPv27RQXF0dERBcvXiQbGxvq2rUrhYSEyDJMQWa8wcHBwo+Pa9euUdWqVUlTU5M6dOhABw4cIKKMhKxKlSr0/v17mcWbVWbsQUFBtG3bNlq5ciU9f/5ceP3v3LmTrKysaMiQIXTp0iWaOXMmiUQiev/+vVz++CCS/FF05swZMjQ0JD8/PyLK+CElEomoefPmFBERIZSbOnUqFS5cmD58+PCnw83m0qVLtGnTJpo0aZLE9uDgYOrUqRPVqVOHlixZQj4+PiQSiQrMePOsMtvo/PnzNHLkSOrbty9NnTpVuH/RokUkEolowYIFMk2EX758SUZGRrRlyxaJ7bdv36YSJUpQkSJFaOvWrTKKTnqyfqeUK1eOihQpQra2ttSqVStKTk4mooxE2MnJiRo0aECdOnUikUhEt27dkmXYSomTYJbvsibAT548oTt37kgkvJmJwJgxYyggIIDu3LlD7u7uVL16dZlNWrl48SLp6emRn58fffv2jS5evEgikYh8fX2FMsuXLyctLS2aNWsWpaamyiTO3Nq3bx8VL16cHBwcqGbNmqSnp0f+/v5ERBQQEEA2NjbUo0cPunnzpkzjzPplYWVlRWPHjqXXr19TamoqJSUlZYtvxIgR1LRpU0pKSpJFuBKyxm5sbEwNGzYkc3NzcnV1pY0bN1JaWhoREe3Zs4fKlStHFStWJCsrK5k/5z9z4MABioyMJKKMun369IlGjBhBPj4+RJTxXi5ZsiR169aNLC0tycXFhcLCwoTnIet7/E/x8vKihQsXCn8nJCSQu7s7iUQiatu2LRGRxHv19u3bNHDgQLKzs6MKFSpInBEpaA4cOEB6eno0bNgwGjduHNna2lKVKlUoJSWFiDJ6hDU0NMjHx4c+ffok9XgyXwdZ///27Vtq3LgxjRkzJtvro0OHDlSvXj2qXr06nT17Vurx/WkXLlwgbW1tWrNmDfn7+9O+ffuoZMmSVKNGDeGzYffu3TRy5Ehq166dxI9K9udwEszyVdZepEmTJlGlSpVIS0uLateuTUOHDhXumz17NolEIhKJRNSrVy9q166d8OEti0R48eLFQnxPnjyh4sWL05AhQ7KVW716NT148OBPh5cngYGBZGRkJPTe3b17l0QiEc2dO1d4bgMCAkhfX58GDBhA3759k2W4dOrUKdLW1qa1a9fS169fcywTHBxMY8aMIUNDQ7kaThAQEEDm5ua0bt06IiKKiIggNTU1cnJyIl9fX+H5joiIoBs3bghnFuRNeHg42dvbU9u2bYXXd3JyMh08eJAePHhA79+/p2rVqlG/fv2IiOjYsWMkEomoTp06dPfuXZnEnJaWRuvWrct2RuPKlSvk4eFB+vr6Ql0yP1uIiD5+/EixsbHC2ZGC6PXr11SxYkVavnw5ERE9ffqULCwsqH///hLlZsyYQUZGRlL/gZL1Mzvrc01E9Ndff5GhoSEtW7ZMeM4/ffpE7du3p9WrV1Pt2rVp8uTJUo1PFmbMmJFt6Nbjx4+pRIkS1KFDB4ntPz5n7M/hJJhJxYIFC8jY2JiOHTtGFy5coFmzZlHFihUlPhRWrlxJIpGIli9fTh8/fiQiEn4h/2ndu3enPn360Lt378jKyooGDhwoJPSbNm2iRYsWySSu/2L79u3UtWtXIspI6DNPx2f6/PkzEWWcNn748KFMYsz07ds36tGjB40fP56IMnryQkJCaNKkSTRjxgx69+4dhYeHk6enJ1WtWlWuEuDU1FSaP38+eXl5EVHGF1xmT6m7uzuVLFmS1q1bJ7PXdF5t2LCBGjRoQO3btxd6hDN/IO3du5ecnJyEMfuHDh2ipk2bUrly5eRieNCJEyfI29tb+DsoKIhcXFzIysqKHj16REQk92dv8iIyMpJKly5NKSkp9OrVKypWrBgNGjRIuP/YsWPCv9+9eyfVWLImwKtXr6aOHTtS586dhWXAiIimT59OZmZm1LJlSxo4cCDVrFmTHBwciCjjs7dRo0ZyOzzov+rVqxc5OjoKf2e+/jZu3EgVKlSQ2x/EyoaTYJYvsn6AJSQkUPPmzemvv/4StiUlJdGuXbuofPny9L///U/YPmfOHBKJRLR06dI/Np4w6+nbL1++EFHGqUU3NzcyNTWlAQMGEFHGh3t6ejoNGzaMhg4dKpSVNz9+ecyYMYMaNmxIz58/J2traxo4cKDwRXXgwAHy8vKSq7p07dqV6tatS48ePaI+ffpQw4YNydHRkUxNTYVk/s6dO3I5gSkqKooiIyMpMTGRateuTX379iUiomfPnpGhoSFVqFBB6CWWV1mTw7///puaNWtGHTp0kJjIs3DhQipVqpTQBpMmTaJ58+bJRWIpFotp9erVJBKJaNasWcL2oKAgcnNzoxIlSgjJe0H5QfIzd+7cofT0dHrz5g3Vr1+f9u/fT9bW1jRo0CChLR48eEDdu3eny5cvE9Gfm/g6YcIEsrCwoMmTJ9PYsWPJxsaG+vTpI9y/bds2GjVqFDVp0oSGDBki/MBq164deXl5Kdz6zcePH6dSpUrRrl27JLYfOnSIbGxs6PXr1zKKjGXFSTD7bT9+eInFYnJwcJAY/kCUccrHw8ODunTpIrF9wYIFJBKJaPXq1VL/wM48/pEjR6hJkyZ09uxZSk9Pp/v371OdOnWoVKlSdPr0aSLKOG06ZcoUsrCwkJgNL4+uXLki9Lxcu3aNGjRoQMbGxsKXUGYbeXl5UdeuXf/IGMGc5NS+hw8fpurVq5Oqqip16NCB9u3bR0QZPfDVq1eXi/G/RDnHnpl4XLp0iSpWrCgMDQgKCqJGjRpRjx495H5FkR8nWVWsWJFUVVWpY8eOwnCCBw8ekL6+PlWuXJnq1atHBgYGFBoaKsuwJXz58oXWrl1LKioqwhhmIqKbN29Ss2bNSF9fXy56rPPixx8YERERVKxYMXrx4gV9+PCBGjRoQCoqKtStWzeJcmPHjqUaNWr80R+NO3bsoDJlytCNGzeIKOPMgY6OjrCaSKas3xVxcXE0ZcoUMjY2Fs48FESZ75/Xr1/T48ePhUm7sbGx1LZtW2revLmwCkZKSgpNnDiRnJyc5GZyr7LjJJj9lqCgIIqPjyeijCvBZV4hy9PTk9zc3LJ9uHl7e5Orqyt9+/ZN4gNxyZIlf+yDMHNCycyZM4VTpUREt27doqpVq1LFihXJzs6OXF1dydLSUm5WUfiZ5ORk8vLyooYNGxJRxni7zMlL69ato9TUVHrz5g1NmjSJTExMZDaGM/PL4sqVK+Tj40MTJ04UZo1//vyZrl27JlF+yJAh1LJly5+OE/6Tssa+YMECmjhxIp07d07ozTp79izZ2NjQ4cOHKT09nby9valfv37C0BN5d+bMGRKJRLRkyRI6evQoTZgwgSpVqkTt27cXfgBGRETQgAEDaNy4cTJ7DRF978199eqVxI9TsVhMq1atypYIX7t2jTw8PGQ+9CcvFi1aRO3bt5f4AXj9+nWys7MTxo/evXuXTExMqHnz5rRlyxY6c+YMDR8+nAwMDKQ+bCg5OVkitjVr1tD06dOJKKODwcjIiJYuXUp+fn6kqqoqjCXP9O7dO+rTpw+VLFmSbt++LdVYpSnrMoKlS5cmGxsbMjAwIE9PT3ry5Ak9ffqU2rdvT8WLF6eyZcuSi4sLGRkZyf13ijLhJJj9Z3FxcSQSicjT05MGDRpEhQoVEma4hoaGkrm5OfXo0UNY9uXz58/UoEEDYbgB0Z+fBPf06VMqVaoUrVy5Unj8lJQUCgwMpK9fv9K7d+/oyJEjNH78eNq5c6fM1i3Oq+DgYNLU1BR6HD58+EDNmzenSpUqkaGhIdWpU4dsbGxk/uG7f/9+MjAwoK5du1Lfvn3JyMgo25mBO3fu0OjRo8nQ0JDCw8NlFGl2+/btIz09Papfvz45OzuTSCSisWPH0suXL+ndu3dUt25dKl26NJUvX77AfNGJxWJKT0+n/v37U+fOnSXu+/vvv6lcuXLUsWNHIYFMS0uTydjN1atX0/nz54Xe0b1795KVlZWwfvH58+eF5DAzEc46NEIefkjlxalTp0hTU1Pih9TJkyfJ3t6eiL5/bt66dYsaNmxIxYsXp3LlygkrdkjTvn37qF27dlS1alWaOXOmsP3Jkyf09u1bcnBwoPnz5xMR0cOHD6lo0aIkEolowoQJEsd5/vx5tvXiC6KAgADS1tamJUuW0K1bt2jFihVUs2ZNatu2LT19+pTevn1Lly5dorFjx9KKFSvkfmK1suEkmP0nFy9epKdPn9KtW7dIU1OTtLW16fz580T0vafmxo0bZGNjQw4ODlSxYkVydnamihUrCl9Wf/LLNPOx7t27R9WqVaNbt27R27dvadGiRVS/fn0yMDCgevXq0dWrV/9YTP9V1uctPT1d+Hv06NHUqFEj4YslKSmJgoODydfXly5cuCDziRiZE8cyf4A8fPiQjI2NaeDAgUKZwMBAGjx4MNnb28vV6faHDx+StbU1+fn5Cc/3zp07ycTEhMaMGUNEGV/qa9eupWXLlhW4L7phw4aRq6trtlnqXl5epKWlRW5ubjJdw7ts2bJkbW1N165do/DwcLKxsaFFixbRhQsXyM3NjaytrWnv3r3CGqy+vr7COrkF1YULF0hPT4/69OlD6enpdOjQIapSpQoRSX4GfPv2jWJiYiguLk7qZx58fX1JX1+fRo0aRV5eXqSqqkqrVq0S7g8MDCRra2vh9f/w4UPq2rUrnT17VmI8tiJMgsusw5gxYySGfBB9H+KVOeGXyS9Oglmeffr0ifr160fjx4+n69evk5aWFqmoqNCoUaMoOjqaiL5/QDx8+JB27txJEyZMoJUrVwo9OX96Qk3mGNjnz5+TsbExubm5kbm5ObVp04bmzZtHp0+fpnLlytHq1av/aFz/1dmzZ+ngwYMSkwkPHz5Mtra2woQYeRMSEkKVK1cmoox2yLyaWqagoCAiyujVznwdyUpcXBwFBQUJZzEiIiKoZMmSFBoaKvEFvn37dlJRUaFLly7JKtR8sWjRohzPFGzZsoUqVapEXbp0+eM/on48S1S/fn2ys7OjzZs307hx4yTu8/DwyJYIr1u3rkCPNSUi8vf3Jz09PRoxYgTt2bOHatasSWfOnKGAgAC6e/cu3bp1i44cOUJv3ryReix+fn6krq4ucVWzLl260PLly4Xxx48fP6ZSpUqRp6cnRUZGkpubG7Vt21Z4zxT0iYk5GT16NLm6ulJaWprEa3bhwoVkYmJSYIZEKStOgtl/sn37dipevLgwHvjs2bOkoqJCw4YN+9cP5D/9QRgaGkqampp0/fp1Isq4bO3EiRNp8eLFEpNHXF1dadmyZX80tv/iy5cv5OnpSSKRiNq0aSOceiQi6tGjh8SyPLKU+cV34cIFOnfuHEVGRlKtWrXo7Nmz2Wa0h4WFUffu3SUuLywrd+/epdq1a5O7uzu1a9eO0tLSKCgoiNTV1YWJP1nXVq5YsaLEiifyLLNNoqKiKCwsTGK4SfXq1alChQoUFBQkjPccP348TZo0SerLbP0oM5l4+vQprVixQhi77+TkRCKRiNzc3LL1Wnt4eFCpUqVo27ZtBXrd1R97Sc+dO0e6urqko6NDpUqVIhsbGypSpAiVLVuWihUrRpaWllIftnXhwgUSiUQ0Y8YMie329vZUuXJlKlSoENWuXZuWL19OixcvpmLFilHx4sXJ2dlZJmf+/qQlS5aQnp6ecPnjzHqeOXOGypcvT7GxsbIMj/0LToJZnmT9IOvevTu1b99euCzn0aNHSUVFhUaMGCFcirR9+/a0e/dumcSa6dmzZ9SiRQvS19enwMBAIpJMYtLS0mjSpElkbm4uMVFO3l27do0mT55M5ubm5OTkRMuXL6cDBw6Qq6srHT16VGZxZX2NXLhwgXR0dOjAgQP0+PFjcnR0JC0tLerVq5fEPqNHjyYXFxfhR5Ws3LlzhwwNDWny5MkSlz8myrjCVfny5SWWDktOTqZq1arR33//LYtw/5O9e/eSmZkZWVlZUalSpYRVRb5+/UpOTk5kY2ND1atXpyZNmpCGhsYfnwSX+ZyHh4dTmTJlqG3bthK9j40bNyYjIyPy9/fP9oO6cePGVKlSJZmtfvI7Mt83nz59osTERIn7Ll68SKamptSsWTN68eIFvXv3jhISEujt27fCGuvS9ODBA6pbty61atVKOGPTrl07srW1pd27d9PJkyepQoUK5OjoSGFhYfT69Wu6fv260JbysJTe78qsw+PHjykqKkriB3vmUnxhYWHCD0gvLy9ycHD4I+3D/jtOglmu5DSB7cKFC9S2bVuhh5UoY5F2TU1NatKkCTk4OFCZMmX+eK9M1iQs89/Pnz+njh07kra2tnCp1PT0dNqwYQO1adOGihYtKrcTmTLrEBYWRgcPHqS9e/dKXO0qLi6OBgwYQI0aNSJtbW3hktSy7nl59eoVLVq0iGbPni1sO3HiBKmpqdHAgQPp9OnTFBwcTF5eXnIxCe7du3dUp04dGjFihMT2zNf+lStXyN3dncqWLUv+/v508eJFmjJlCpmYmEgkxvIo87Xw7t07srOzo40bN9L58+dp3rx5pK6uTlOnThXKrl69mqZMmULjxo2T2XCCqKgoMjIyookTJ+a4nmrt2rWpRIkSdPny5WyfTbIe+/5fZLbP8ePHqUGDBuTg4ED16tWjO3fuCMM7zp8/Tzo6OjR48GCZrPP94MEDcnd3p+bNm1Pt2rXJwcFBYtm5W7dukUgkosOHD0vsV5DX/928ebNw5U0iol27dpGVlRWZmZmRra0tdezYkVJSUiguLo7c3d2pUKFCVL16dWrYsCEZGBgU6JUvlAUnwexfZT3V9tdffwlLWaWmplLLli3Jw8NDonxAQACNGjWKxo0bJ7MxwBcvXhTizvyCefbsGXXs2JF0dHSED6eIiAgaNWqUTCb95EVm713p0qXJ2tqaChcuTEePHhVmvYvFYnr9+jUtXLiQ7O3tZX4d+idPnpBIJCIDA4Nsk5N2795NDg4OVLhwYapYsSJVr15dLibB3b17l0qVKkUXL1786Rf3zZs3qVu3bqSpqUm2trZUoUIFuf3x9KNz587RxIkTafjw4UJi9fnzZ1q5ciWpqqpmu3StrH5Eff36lTp06EDDhg2T2J6SkkJPnjwRfgC6u7uTtbU1Xb16tUAnWpkOHz5MhQoVoilTppC/vz/VqlWL7O3t6cSJE0J7+fv7k0gkomHDhsmkfR48eECurq5kYGBAe/bsIaLvk3Nv3bpF5cuXpytXrvzxuKQhLi6OWrRoQc7OzrRr1y6Kjo4mGxsbWrNmDZ0/f5527dpFxYoVo4YNGwpt4efnR7Nnz6bZs2cXuMmxyoqTYPZLoaGhJBKJ6NChQzRy5EgyNjaWWG/zzZs3ZGdnJ6wPnNMEiD+dACckJJCrqyuZmJgIPRWZcT148ICqVKlCpqamwmk9eT9VFxISQkZGRrRx40aKiYmhmJgY6t+/P+np6dHJkyeJSDJhkcXFJZKSkig+Pp4uXLggDIXZsWMHiUQi6tixo0TPNRFRTEwMRUVF0ZMnT/7YlQL/zfbt20lNTU14LrMmVpmv56SkJIqKiqL4+Hh6/vy5zIdv5FZycjJNmTKFVFVVqVq1ahL3ZSbCWlpawkoXRLJLglNTU6lu3bq0YsUKYdupU6fIy8uL9PX1qVixYtS+fXsiykiEDQwMhLHaBdWTJ0/I0dGRlixZQkRE8fHxZGNjQ2ZmZmRmZkYnTpwQhnBdvHhRphfvefToEbm5uVHTpk0lJoS2aNGCGjRooBA/SDKFhoZS9+7dycXFhUaNGkXdunWTOLMZFRVFlpaW1L17dxlGyX4HJ8HsX82YMYO0tbVJT09P4pR1Wloapaam0owZM2j48OH05csXufkAvH79OjVt2pRsbGyyTRrp1asXqaioUJEiRejr169yEzNRxmSKHycWHjx4kBwcHOjDhw8SiUmfPn2oSJEiQhKZed+fTl7u379PPXv2JDs7O9LS0qJChQpRly5d6PXr13TgwAHhcrbyPjbu6tWrpKWlJVyxLifLly+nxo0bS4wpl2dZXwvPnj2jGTNmCFdnzCoxMZEWLVpEhQsXpvj4eJkOpUlISCA7OzsaMGAA3bt3j+bOnUtly5YlDw8PWrZsGa1fv56KFy8urAPcqFGjAnUhjJzcv3+fFixYQImJiRQdHU22trY0ZMgQIsqYsGhvb0+HDh0SeoRlLXNoRLNmzejy5cvUrl07iaFv8vSZ+rtCQ0OpW7duZGNjQzVq1BC2Z3aerF+/nsqXL0/Pnz+X2Wcw++84CWY5yvohNnv2bBKJRKSmpkb79+/PVvbq1atkbm5Ox44dI6I//wGQ+XgpKSkSE0oiIiKoUaNGZGNjQ8+ePRO2e3l50Z49e+Rq1m7mpZszT3Vm7Tn18/MjHR0d4UM3MwF7+PAhFStWjM6dOyeTmIkyxikXKVKEBg8eTJs2baKoqCiaMGEC2djYUNmyZenFixdCj/DcuXOFSZTy6NWrV2RmZkatWrWSeL1kfT2PGTOGJk6cKPdfcpnx/XiW48WLFzR58mTS09MjX19fifuSkpLk5lKu/v7+pKamRsWLF6dChQqRr6+vkOimpKRQkyZNsl1kpaDLrN/QoUPJw8NDWFqrR48eJBKJqEyZMtkmzMnSgwcPqHnz5qSurk5ly5YVEmB5P7P2X0RERFDnzp1JR0cn2/vmyJEjVKxYMbm/PDrLGSfB7JdmzJhBAwcOpDt37tCMGTNIXV2dtm3bRkSSibKvry9VqVLlj18BKOuEkrZt25K9vT3179+fTpw4QUREkZGR5OrqSkZGRjRt2jTq0aMHFSlSRO6uBJd5un3fvn2krq5OI0aMEJZvi4+PpwoVKtCAAQMkeiAzr34XEBAgk5jDwsJIR0eHJk2alO2Lb/fu3VS5cmVycnKib9++ka+vL6mrq9O0adPkOhHev38/aWpqUo8ePSRWRUhKSqJJkyZR8eLF5X78eOZ7wt/fn3r37k1du3aVuFrXy5cvacqUKVSoUCGJST/y5sWLFxQcHJxtyEl6ejp16NCBpk6dSunp6QWu1zGzfR4/fkz379/PNpSjWbNmEu01atQoun37tjDMSJ5ERUWRp6enzOZ+/EmRkZHUpUsXcnZ2pjVr1hBRxhmUcePGkZ2dXYEZGsUkcRLMJGQdy3vmzBkqXbq0cMEAIqJJkyaRurq6cHleoowP6c2bN5OHhwedOXPmj8ZLlLE0m4aGBo0cOZJmzpxJjo6OVLNmTVq+fDkREUVHR9PIkSPJ0dGRGjduLHczdjds2EDbtm0TJrkdPHhQuBx1bGwspaen09KlS6lmzZrUp08fSkhIoFevXtH06dOpRIkSMvlyfPHiBZmYmFCHDh2EbWKxWOJL8O+//yZdXV1h+bA5c+aQkZERvX379o/Hm1vp6enk6+tLampqZGdnR3369KEhQ4ZQq1atyMzMTO4nwWUmWAcOHCB9fX0aMGAATZgwgUqUKEGtWrUS3t8vX76k6dOnk0gkoo0bN8ow4rxJTk6mqVOnkqWlZYGceJS1fcqVK0cVK1Ykc3Nz6tq1q1CfNm3aULly5WjDhg00ZMgQMjAwKBC9jIqcAGcKDw+nLl26kKamJlWtWpW6dOlCdnZ2wopDrODhJJgREWVb4mnHjh00cuRIGjVqFBFJfsBNnjyZRCIRjRgxgmrVqkUVK1YkoowVDDInm/0JYrGYEhISyMXFReIa9nFxcTRs2DCqUaOGxFCBhIQEIdGUF2lpaVS9enWqUqUK7d+/X+jpzUyEhw4dSomJifT161dasWIFVapUidTV1alixYpUtGhRiR8of9LTp0+pevXq1KpVq2xXqMs6VKBevXrUpk0b4W95Od3+bwIDA6l9+/ZUpUoVqlu3Lk2YMEEuk67MXtCsvaGhoaFUpkwZYdzv06dPqUiRIiQSiahOnTrCe/nZs2c0e/ZsubhASW5s3bqVRowYQebm5nL/Y+RXzp8/T3p6euTn50eJiYl08uRJEolEtGPHDiLKOOtQt25dKl++PNnb28vdj3ZFlpsxvZGRkdStWzcyNzcnHx8f7gEu4DgJZtS7d2/y8fEhou/L3dSuXZtEIhE1atQox9nyS5cuJTc3N+rRo8cfTSzFYrEQx5cvX4QkMnOSTOZ9b9++pUqVKpGXl9cfiy2vMp/XL1++kLu7O1WrVo327t3700RYLBbTly9faN++fRQQECDz9VAzJ8e4ublJJMJZv0AaNGhAXbt2zfE+eSfvl3jNelW1tWvX0s2bN4koYy3mzB+vL168oJIlS9KAAQOES/C2adOmwI3fvHfvHjVo0IDatm1b4C+F7OPjI1wu/NGjR2Rra0sDBw7MVu7NmzdyPXRIkWR+LiUkJFBKSopwsZWffV7dvn2bBg4cKPPPYPb7OAlmdPjwYeFLMXMcampqKnXu3JksLS1p48aNQqKbNRHOelWmP3FBjKyPsXPnTurZsyc9ffqU6tWrR3369BHiy4zRy8uLGjVqJNfJTGYS8uXLF2rUqBE5OjrS3r17sw2NGDZsmFxN5MuUNRHOuj5oeno6vXz5kpo2bZpt+byCIqeLrsiLnK6qljkxlSijN1gsFlObNm2oW7duJBaLKTExkRwdHUkkElGTJk1kFfp/FhsbK/crjPwbsVhMzZs3p8mTJ9O3b9+oaNGiNHDgQOH1tXz5cqFHmP0Zmc/9sWPHqGXLluTo6EgtW7akI0eO/HK/grJCDPs1ToKV2I9f7H5+ftSxY0fhVGNqaio1b96cqlSpQrt37xaW5/kxqfwTCUJERAT5+PhQeno6xcfHU8mSJWnZsmVERHT69GkSiUT0v//9T2Kfjh07Up8+feR24kzm85Y5RCApKYkaNWqUY4+whoYG9enTJ9t6u/LgZz3CEyZMIHt7e+4tkZJ/u6rax48fyd7eXrjk8Ldv36h///50/PhxuZsYqky2bNlCderUIRMTExoyZIjEmbZ+/frRsGHDOMH6w44cOUJaWlq0YMEC2rt3L/Xp04dEItEfv2Q4+/M4CWaCNWvWUOXKlWngwIESiXDTpk2patWqtGfPHpl8OGdesGPVqlV0/vx5mjVrFg0ePFhiuaBVq1aRSCSiLl260OjRo2nQoEGkp6cn8yun/ZvAwEDq2LGjMEM8MxH+sUd49+7dZGxsLPTUy5usiXBISAgtWLCA9PT05OJKcIroV1dVe/XqFT148ICSkpKoWrVq1KZNG3r69CmNHTuWypQpk20daiYdmcntq1ev6N69e8LfISEhVK9ePSpfvrxw9c3ExESaMmUKWVpayv3qI4ois3MkKSmJWrZsSQsXLiQiotevX1Px4sVzHKLCFA8nwUoo67jaH61fv54cHByoX79+EolwixYtyNLSkvz9/f9kqHT37l3S1tYmb29vIiKaNm2asGZm5jqamc6fP0+tWrWihg0bUrt27SQu7CGvtm3bRlWqVKHu3bsLkwqz9gjv379fSIR/rK+8efDgAbVo0YLMzMxIXV2dZ0xL0b9dVa148eLUpEkTOnDgAJUqVYqKFi1KVlZWBXpCWUG0b98+srKyIisrK6pQoQJduHCBiDKWdKxVqxaVLFmS6tSpQw0bNqQiRYpw+0jZ4sWLJeaJiMVi+vjxI5UsWZIuXbpEcXFxwhCVTJs3b+YfJgqMk2Ald+zYMTp06BCdP39e2Obn5yckwpkzk1NSUmjMmDF/dHxtREQEmZiYULly5YRtcXFxtHDhQlJRURHWaiT6PkQjs6da3laBIPr5sJGdO3dSnTp1qHPnzsLkpqSkJHJzc6NSpUrR4cOHf7m/PLl37x61atWK7ty5I+tQFFpurqpWrlw58vLyotjYWLpy5Qr3AP8hmR0Md+/epZIlS9KiRYvowoUL5ObmRsWKFROuSBgREUGbN2+moUOH0tq1a+nRo0eyDFvhff36lebNm0d6eno0bdo0YXtaWhr16NGDZs+eTdbW1jRo0CDh+yQuLo569uxJW7duLRCfvyzvOAlWIp6enjRmzBjhby8vLzIzMyMLCwuqWLEijRgxQrjPz8+PqlWrRgMHDqTAwECJ4/yJRDg0NJR0dHSoQYMGZGlpSZ6ensJ9Hz58EHqEt2zZQkQZCWLmLfNveZBTj3tUVFS2L7zt27dT3bp1qVOnTsIPj8TERGrTpk2BG7/5JyZJsl9fVS05OZkaN25MPXv2lHGUii+nZequX79OmzdvpnHjxkmU9fDwEBJhebkEsjJ5//49LV++nAwNDWnKlCnC9okTJ5JIJKKmTZvSly9fJLaXLVtW4gqSTLGogSmFDx8+QE1NDSdPnoShoSF69eqFmzdv4uzZs1BXV8fp06exevVqJCUlYd26dejfvz9UVFTg4+MDGxsbODk5gYggEomgqqoq1ViDg4NRq1YtTJkyBVOnTsX69esxZcoUAMDy5cthaGiIMWPGgIjQq1cvqKiooFu3bhLHEIlEUo0xN8RiMVRUVPD69WtcuXIF6enp0NTUxJo1a2Bra4vx48ejZMmSAICuXbsiLS0NXl5eUFFRwciRI+Hs7IyDBw/KuBZ5p66uLusQlELDhg3x5MkTxMXFoXjx4jAxMRHuU1NTg4GBAaytrUFEAOTjPaFoMt/jz549w5kzZ1ClShU4OTnB09MTt27dgpubG1JTU4X3xL59+9C+fXtMmDAB3759g4eHB7S0tGRcC8WX+R4wMjJCnz59kJ6ejhkzZkAsFmPu3LmYN28eXrx4gXPnzmH8+PEoXLgwnj9/joMHDyIgIADFixeXcQ2Y1Mg2B2d/0uvXr8nHx4cqVqxI7du3p969ewu9uh8/fqQ1a9ZQqVKlqH///sI+R44c+eNLjF28eFGiV/rjx4+0du1aMjExkegR/vjxI3l7e5NIJKJdu3b90Rj/TWavUFhYGJUsWZLKly9P6urq5OTkRPb29uTm5kYjR47M1stbp04dMjMzo/79+9PXr1/lpkebFRwF/apqBUVOy9QdPXpUuL9p06ZkZGRE/v7+2T5DGzduTJUrV5ZYZpLlr5w+O2/evEkvXrygDx8+0NKlS8nIyEjiEtVTpkwhDw8Pql69Og0cOJCHdSkBToKVQNbTdK9fvyZvb2+ysbGhWrVqSZT7+PEj+fr6UtmyZaldu3YS98lqrd2si5jnlAi/f/+e5syZI1cL6GdNgHV0dGj8+PH0+vVrOnz4MDVt2pTq1atHQ4cOpSpVqtDIkSOFU21fv36lAQMG0Jw5c3hZMfafKMpV1QqKf1umrnbt2lSiRAm6fPlytqFR/B6XrujoaCL6PhH88ePHZG5uLqxY8/79eyERHj9+vLBfcnIypaSkyPX68iz/cBKs4LJ+8GZebCEmJoa8vb3J0NCQpk6dKlE+ISGBFi9eTB07dpS79XWzJsI/zvCVNy9evCATExPq0KGDxPY1a9aQkZERvXr1ilatWkWOjo7UqVMn2rx5M02YMIHKly9Pb9++lVHUrCBTpKuqFQS/WqbuyZMnwpre7u7uZG1tTVevXpW7z1RFtXfvXrKxsRGWniQievfuHdnZ2dGrV6+EbVkT4R+/C5ly4DHBCixzvBoAzJo1CyEhIZgzZw7Kly+PIUOGAAB2794NVVVV+Pj4AAD09fUxaNAgjBo1CiKRSOIYsqavr4/OnTtDRUUFAwcOhKamJubPny+XYx3T09NhY2OD5ORkXLlyBXXq1AEAlCpVCgDw+fNnDB06FLq6uti3bx8mT54MExMTbN26FYULF5Zl6KyAKlu2LHbv3g1NTU0YGBjIOhyFp6amhpiYGNSrV0/Ydvr0aZw6dQobNmyAvr4+atSogZMnT6Jp06Zo1qwZTp8+DWdnZxlGrRz09fVRsWJFeHp6YuXKlXBycsLHjx+Rnp4uMQbbyMgIPXv2FOZhaGlpCfNPmHLgJFiBZSavEyZMwNatWzF//nzhy9Hc3ByDBg0CAOzatQsqKiqYPn06AEBXVxdAxmQCeUmAM+nr66NDhw5QV1dHzZo1ZR3OT5UoUQLbt2/HiBEjMGvWLCxduhRWVlbo1q0bBgwYADs7OwBAr1690KZNGyQmJkJLS4sTYPZbzMzMZB2C0vjy5Qvi4+MRHh6O+/fv48CBA9i8eTMqVqyIWbNmQU9PDzNnzsTs2bNx8uRJuLq68vv7D2nSpAk0NTWxbNkyDB48GGvWrIGFhQU+ffqE9PR0ibKZibC6ujpcXFxkFDGTFRHRP9MmmUI6e/YsevfujQMHDsDZ2RlEhA8fPuD58+coXbo0RCIRFi9ejKVLl+J///sf+vbtK+uQc4X+WalC3j18+BAjR47Ely9fEB4ejl69emHJkiUAgLS0NKip8e9Qxgqq8+fPw83NDUWLFsX79++xaNEiNGrUCLa2tkhNTUWLFi1QuHBh7NixQ9ahKo2s3w0BAQFYtmwZXr16hcGDB2P79u1wc3ODjY0NxGIxUlNTkZycjFv1ys4AAAweSURBVAoVKsh1pwqTHv4GVnAfPnyApaUlnJycEBISgsOHD2PHjh349OkTGjZsiBUrVqBfv34oVqwYevXqJetwc60gJMAAULp0aaE3Ql9fH23bthXuk/ZSc4wx6frVMnWqqqowMDBAqVKlIBaLAUDuzqwpoqzfDQ0aNEBaWhrWrFmDiRMn4t27d9DX18fmzZshEomgoaGB9PR07NmzR4YRM1ninmAF8vXrV2hra0tsCw0NhYODA9zd3REUFIQWLVrAxcUFmpqaGDp0KI4dOybxCzg9PZ2TMyl49OgRPD09QUSYNm0aateuLeuQGGNSkpKSglmzZmHDhg0ICAhA6dKlZR2SwsvsAQ4JCUFsbCzEYjGaN28OAPD398eGDRsQHh6Obdu2wd7eXtgvKSlJGALIlA8nwQpi69atePz4MSZNmgRNTU0QEcRiMVRVVXH16lXs27cPNWrUQMOGDWFqaoqkpCTUr18fCxcuRMOGDWUdvlJ4+PAhRo8ejbdv32LJkiWoUaOGrENijOWzbdu2ISgoCLt378bJkydRtWpVWYekNPbv34/evXvDwsIC0dHR8PDwwJYtWwBkJMLLly9HTEwM5s+fL4z/LShD65h0cBKsAP7++28MHjwYJ06cgLu7u8QVooKDg2FmZgZra2sAQGpqKr59+4aOHTsiISEBly9f5p7fP+jevXuYNm0aFi9eLLQJY0wx3L9/H4MHD4aRkRHmzJmDcuXKyTokhZeZxH758gVNmzZF//79UadOHURFRaFnz56oW7eucOXNixcvYubMmUhPT8epU6f4an2Mk+CCbuvWrejXrx8OHTqEZs2aSSTABw4cwMCBA7F//37Ur18fqampWLVqFfbt24eUlBRcvXoV6urqcrUMmjJISUmBhoaGrMNgjElBXFwcL1P3h509exZbt26FqqoqFixYIKyScvXqVbRp0wZ16tTBgQMHIBKJcPnyZdjY2KBYsWIyjprJA858CrBNmzahV69eaNCgAZo1awYgY21gkUiEQ4cOoX379pg9ezbq168PICMxtre3h6urK65duwZ1dXWkpaVxAvyHcQLMmOIyMzPjBPgPe//+Pfbt24eTJ08KK+4QEWrXro1Dhw4hMDAQrq6uICLUrVuXE2Am4OyngPLz80O/fv3Qr18/3L17FyNHjgSQMSOZiJCamgpfX18MHjxY2EdNTQ0uLi7w8fGBmpoa0tPTeYkuxhhjci9zhY2c/m7bti22b9+OpKQkTJ06FcD3VSJq166NHTt24MWLF3j9+vWfC5gVCDwcogBaunQpRo8ejePHj6Np06ZYu3Ytpk6diq5du2LZsmWyDo8xxhjLd/fu3cPWrVsxcOBAWFtbS0xoS01NxcGDB9G7d2/0798fy5cvl9g3p9WTGOMkuAC6ePEi3rx5g86dOwMAEhISsHv3bkyZMkUiEeblzhhjjCmC1NRU1K5dG8HBwbC1tUXr1q3h5OSEDh06CGW+ffuGw4cPo3fv3hg8eLBwYSLGfobPhRdAmWN8M2fFGhgYCAlx5nXPly1bBlVVVU6EGWOMFXjq6uro0KEDunTpgooVK+Lq1asYNGgQjhw5gpo1a2Lw4MHQ0tJCp06dAABdunSBhoYGFixYIOPImTzjnmAF8unTJ+zatQtTp05Ft27d+FcwY4wxhREQEIDWrVvD398fjo6OePPmDf7++28sXLgQlSpVQr9+/eDi4gJbW1scPHgQ5cqVg52dnazDZnKMk2AF8+nTJ+zevRuDBg3CkiVLhAlzjDHGWEE3btw4vHnzBuvWrYOWlhY6d+6MsLAwODs74+nTp7h+/ToWLVqEESNG8EUw2L/i4RAKRl9fHx06dICZmRlatGgh63AYY4yxfOPs7Iy//voLGhoa6N+/PwICAuDv748KFSrg/v37OH36NBo1asQJMMsV7glWcGlpabwMGmOMMYVRv359XLlyBRYWFjhx4gTs7e1lHRIroHidYAXHCTBjjDFFkNlnN2HCBNja2mLVqlWwt7cH9+Wx/4qTYMYYY4zJvcwhDtWqVYNYLMatW7cktjOWV5wEM8YYY6zAMDc3h7e3N5YsWYKbN2/KOhxWgHESzBhjjLECxcXFBdWrV4elpaWsQ2EFGE+MY4wxxliB8+3bN2hpack6DFaAcRLMGGOMMcaUDg+HYIwxxhhjSoeTYMYYY4wxpnQ4CWaMMcYYY0qHk2DGGGOMMaZ0OAlmjDHGGGNKh5NgxhiTE71790abNm2Evxs0aAAvL68/HkdAQABEIhE+fvz4xx+bMcb+FE6CGWPsX/Tu3RsikQgikQgaGhqwtbXFzJkzkZaWJtXHPXDgAGbNmpWrspy4MsZY3qjJOgDGGCsI3N3dsXHjRiQnJ+PEiRMYNmwY1NXVMWnSJIlyKSkp0NDQyJfHNDY2zpfjMMYYy457ghljLBc0NTVhYWGB4sWLY8iQIXB1dcWRI0eEIQxz5syBpaUlypYtCwB4+fIlOnbsCENDQxgbG6N169Z49uyZcLz09HSMHj0ahoaGKFy4MMaPH48fr13043CI5ORkTJgwAVZWVtDU1IStrS3Wr1+PZ8+ewcXFBQBgZGQEkUiE3r17AwDEYjHmzZsHGxsbaGtrw97eHvv27ZN4nBMnTqBMmTLQ1taGi4uLRJyMMaaoOAlmjLH/QFtbGykpKQAAf39/3L9/H2fPnsWxY8eQmpoKNzc3FCpUCJcvX8bVq1ehp6cHd3d3YZ/Fixdj06ZN2LBhA65cuYL379/j4MGDv3zMnj17YufOnVi+fDmioqKwdu1a6OnpwcrKCvv37wcA3L9/H2/evMGyZcsAAPPmzcOWLVvg6+uLu3fvYtSoUejevTsuXrwIICNZb9euHVq2bInQ0FD0798fEydOlNbTxhhjcoOHQzDGWB4QEfz9/XH69Gl4enoiPj4eurq6WLdunTAMYtu2bRCLxVi3bh1EIhEAYOPGjTA0NERAQACaNGmCpUuXYtKkSWjXrh0AwNfXF6dPn/7p4z548AB79uzB2bNn4erqCgAoWbKkcH/m0AkzMzMYGhoCyOg5njt3Ls6dO4eaNWsK+1y5cgVr165F/fr1sWbNGpQqVQqLFy8GAJQtWxYRERFYsGBBPj5rjDEmfzgJZoyxXDh27Bj09PSQmpoKsViMrl27wsfHB8OGDUOlSpUkxgGHhYXh0aNHKFSokMQxvn37hsePHyMhIQFv3ryBs7OzcJ+amhocHR2zDYnIFBoaClVVVdSvXz/XMT969AhfvnxB48aNJbanpKSgatWqAICoqCiJOAAICTNjjCkyToIZYywXXFxcsGbNGmhoaMDS0hJqat8/PnV1dSXKJiYmolq1ati+fXu245iamv6nx9fW1s7zPomJiQCA48ePo2jRohL3aWpq/qc4GGNMUXASzBhjuaCrqwtbW9tclXVwcMDu3bthZmYGfX39HMsUKVIEgYGBqFevHgAgLS0Nt27dgoODQ47lK1WqBLFYjIsXLwrDIbLK7IlOT08XtpUvXx6ampp48eLFT3uQy5UrhyNHjkhsu3Hjxr9XkjHGCjieGMcYY/msW7duMDExQevWrXH58mU8ffoUAQEBGDFiBF69egUAGDlyJObPn49Dhw7h3r17GDp06C/X+C1RogR69eqFvn374tChQ8Ix9+zZAwAoXrw4RCIRjh07hvj4eCQmJqJQoUIYO3YsRo0ahc2bN+Px48cICQnBihUrsHnzZgDA4MGD8fDhQ4wbNw7379/Hjh07sGnTJmk/RYwxJnOcBDPGWD7T0dHBpUuXYG1tjXbt2qFcuXLo168fvn37JvQMjxkzBj169ECvXr1Qs2ZNFCpUCG3btv3lcdesWYP27dtj6NChsLOzw4ABA5CUlAQAKFq0KGbMmIGJEyfC3Nwcw4cPBwDMmjUL06ZNw7x581CuXDm4u7vj+PHjsLGxAQBYW1tj//79OHToEOzt7eHr64u5c+dK8dlhjDH5IKKfzcJgjDHGGGNMQXFPMGOMMcYYUzqcBDPGGGOMMaXDSTBjjDHGGFM6nAQzxhhjjDGlw0kwY4wxxhhTOpwEM8YYY4wxpcNJMGOMMcYYUzqcBDPGGGOMMaXDSTBjjDHGGFM6nAQzxhhjjDGlw0kwY4wxxhhTOpwEM8YYY4wxpfN/Q5pGT0fwVlg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299" y="2070099"/>
            <a:ext cx="3810001" cy="316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2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8229600" cy="1231900"/>
          </a:xfr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rmAutofit fontScale="90000"/>
          </a:bodyPr>
          <a:lstStyle/>
          <a:p>
            <a:r>
              <a:rPr dirty="0"/>
              <a:t>Model 2: Convolutional Neural Network (CNN)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20900"/>
            <a:ext cx="4064000" cy="4005263"/>
          </a:xfrm>
        </p:spPr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Three convolutional layers (32, 64, 128 filters), max pooling, adaptive average pooling.</a:t>
            </a:r>
          </a:p>
          <a:p>
            <a:pPr>
              <a:defRPr sz="2000">
                <a:latin typeface="Calibri"/>
              </a:defRPr>
            </a:pPr>
            <a:r>
              <a:rPr dirty="0"/>
              <a:t>Dropout layers to reduce overfitting. Optimized with SGD and learning rate decay.</a:t>
            </a:r>
          </a:p>
          <a:p>
            <a:pPr>
              <a:defRPr sz="2000">
                <a:latin typeface="Calibri"/>
              </a:defRPr>
            </a:pPr>
            <a:r>
              <a:rPr dirty="0"/>
              <a:t>Test accuracy: 87.6%. Improved spatial pattern detection and robustness.</a:t>
            </a:r>
          </a:p>
        </p:txBody>
      </p:sp>
      <p:sp>
        <p:nvSpPr>
          <p:cNvPr id="5" name="Flowchart: Process 4"/>
          <p:cNvSpPr/>
          <p:nvPr/>
        </p:nvSpPr>
        <p:spPr>
          <a:xfrm>
            <a:off x="5092700" y="2628900"/>
            <a:ext cx="3594100" cy="307340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700" y="2628899"/>
            <a:ext cx="3594100" cy="307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9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5000"/>
            <a:ext cx="8229600" cy="1409700"/>
          </a:xfr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rmAutofit fontScale="90000"/>
          </a:bodyPr>
          <a:lstStyle/>
          <a:p>
            <a:r>
              <a:rPr dirty="0"/>
              <a:t>Model 3: ConvNeXt-Tiny (Transfer Learning)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4700"/>
            <a:ext cx="4457700" cy="4081463"/>
          </a:xfrm>
        </p:spPr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 smtClean="0"/>
              <a:t>Pre</a:t>
            </a:r>
            <a:r>
              <a:rPr lang="en-US" dirty="0" smtClean="0"/>
              <a:t>-</a:t>
            </a:r>
            <a:r>
              <a:rPr dirty="0" smtClean="0"/>
              <a:t>trained </a:t>
            </a:r>
            <a:r>
              <a:rPr dirty="0"/>
              <a:t>on ImageNet, fine-tuned for Fashion-MNIST with adjusted input/output layers.</a:t>
            </a:r>
          </a:p>
          <a:p>
            <a:pPr>
              <a:defRPr sz="2000">
                <a:latin typeface="Calibri"/>
              </a:defRPr>
            </a:pPr>
            <a:r>
              <a:rPr dirty="0"/>
              <a:t>Used AdamW optimizer, </a:t>
            </a:r>
            <a:r>
              <a:rPr dirty="0" smtClean="0"/>
              <a:t>One</a:t>
            </a:r>
            <a:r>
              <a:rPr lang="en-US" dirty="0" smtClean="0"/>
              <a:t>-</a:t>
            </a:r>
            <a:r>
              <a:rPr dirty="0" smtClean="0"/>
              <a:t>Cycle</a:t>
            </a:r>
            <a:r>
              <a:rPr lang="en-US" dirty="0" smtClean="0"/>
              <a:t> </a:t>
            </a:r>
            <a:r>
              <a:rPr dirty="0" smtClean="0"/>
              <a:t>LR </a:t>
            </a:r>
            <a:r>
              <a:rPr dirty="0"/>
              <a:t>schedule, mixed precision training.</a:t>
            </a:r>
          </a:p>
          <a:p>
            <a:pPr>
              <a:defRPr sz="2000">
                <a:latin typeface="Calibri"/>
              </a:defRPr>
            </a:pPr>
            <a:r>
              <a:rPr dirty="0"/>
              <a:t>Test accuracy: 95.4%. Best generalization; minor shirt/top confusion remains.</a:t>
            </a:r>
          </a:p>
        </p:txBody>
      </p:sp>
      <p:sp>
        <p:nvSpPr>
          <p:cNvPr id="5" name="Flowchart: Process 4"/>
          <p:cNvSpPr/>
          <p:nvPr/>
        </p:nvSpPr>
        <p:spPr>
          <a:xfrm>
            <a:off x="5080000" y="2527300"/>
            <a:ext cx="3873500" cy="3598863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2527299"/>
            <a:ext cx="3873500" cy="359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7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dirty="0"/>
              <a:t>Results /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89900" cy="4525963"/>
          </a:xfrm>
        </p:spPr>
        <p:txBody>
          <a:bodyPr/>
          <a:lstStyle/>
          <a:p>
            <a:endParaRPr dirty="0"/>
          </a:p>
          <a:p>
            <a:r>
              <a:rPr dirty="0"/>
              <a:t>MLP Test Accuracy: 84.87%.</a:t>
            </a:r>
          </a:p>
          <a:p>
            <a:r>
              <a:rPr dirty="0"/>
              <a:t>CNN Test Accuracy: 87.59%.</a:t>
            </a:r>
          </a:p>
          <a:p>
            <a:r>
              <a:rPr dirty="0"/>
              <a:t>ConvNeXt-Tiny Test Accuracy: 95.4%.</a:t>
            </a:r>
          </a:p>
          <a:p>
            <a:r>
              <a:rPr dirty="0"/>
              <a:t>Transfer learning significantly improved performance.</a:t>
            </a:r>
          </a:p>
          <a:p>
            <a:r>
              <a:rPr dirty="0"/>
              <a:t>Best model: ConvNeXt-Tiny with 95.4% test accuracy.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33462"/>
          </a:xfr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r>
              <a:rPr lang="en-US" sz="2800" dirty="0" smtClean="0"/>
              <a:t>LOSS &amp; ACCURACY CURVE OF MLP,CNN, ConvNeXT</a:t>
            </a:r>
            <a:endParaRPr lang="en-IN" sz="2800" dirty="0"/>
          </a:p>
        </p:txBody>
      </p:sp>
      <p:sp>
        <p:nvSpPr>
          <p:cNvPr id="4" name="Flowchart: Process 3"/>
          <p:cNvSpPr/>
          <p:nvPr/>
        </p:nvSpPr>
        <p:spPr>
          <a:xfrm>
            <a:off x="5334000" y="1600200"/>
            <a:ext cx="3238500" cy="234950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Process 6"/>
          <p:cNvSpPr/>
          <p:nvPr/>
        </p:nvSpPr>
        <p:spPr>
          <a:xfrm>
            <a:off x="965200" y="1600200"/>
            <a:ext cx="3238500" cy="234950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Process 7"/>
          <p:cNvSpPr/>
          <p:nvPr/>
        </p:nvSpPr>
        <p:spPr>
          <a:xfrm>
            <a:off x="2717800" y="4343400"/>
            <a:ext cx="3238500" cy="234950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00" y="4343400"/>
            <a:ext cx="3238500" cy="2349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1600200"/>
            <a:ext cx="3238500" cy="2349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1600201"/>
            <a:ext cx="3238501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7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OVERALL COMPARISON CHART</a:t>
            </a:r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838" y="1824547"/>
            <a:ext cx="5906324" cy="4077269"/>
          </a:xfrm>
        </p:spPr>
      </p:pic>
      <p:sp>
        <p:nvSpPr>
          <p:cNvPr id="5" name="Flowchart: Process 4"/>
          <p:cNvSpPr/>
          <p:nvPr/>
        </p:nvSpPr>
        <p:spPr>
          <a:xfrm>
            <a:off x="457200" y="1600200"/>
            <a:ext cx="8229600" cy="4525963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199"/>
            <a:ext cx="82296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6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dirty="0" smtClean="0"/>
              <a:t>Discussion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85000" lnSpcReduction="10000"/>
          </a:bodyPr>
          <a:lstStyle/>
          <a:p>
            <a:endParaRPr dirty="0"/>
          </a:p>
          <a:p>
            <a:r>
              <a:rPr dirty="0"/>
              <a:t>Deeper models capture complex visual features better.</a:t>
            </a:r>
          </a:p>
          <a:p>
            <a:r>
              <a:rPr dirty="0"/>
              <a:t>ConvNeXt achieved near state-of-the-art performance.</a:t>
            </a:r>
          </a:p>
          <a:p>
            <a:r>
              <a:rPr dirty="0"/>
              <a:t>Common confusion: Shirt vs T-shirt/Top due to similarity.</a:t>
            </a:r>
          </a:p>
          <a:p>
            <a:r>
              <a:rPr dirty="0"/>
              <a:t>Model comparison shows accuracy gain with transfer learning.</a:t>
            </a:r>
          </a:p>
          <a:p>
            <a:r>
              <a:rPr dirty="0"/>
              <a:t>Challenges: computational demand and overfitting prevention.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dirty="0"/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Project successfully trained and compared multiple architectures.</a:t>
            </a:r>
          </a:p>
          <a:p>
            <a:r>
              <a:rPr dirty="0"/>
              <a:t>ConvNeXt-Tiny achieved the highest test accuracy (95.4%).</a:t>
            </a:r>
          </a:p>
          <a:p>
            <a:r>
              <a:rPr dirty="0"/>
              <a:t>Demonstrated impact of architecture and data augmentation.</a:t>
            </a:r>
          </a:p>
          <a:p>
            <a:r>
              <a:rPr dirty="0"/>
              <a:t>Contributed insights into model selection for image classification tasks.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t>Future Work / 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Future work: experiment with </a:t>
            </a:r>
            <a:r>
              <a:rPr dirty="0" smtClean="0"/>
              <a:t>Res</a:t>
            </a:r>
            <a:r>
              <a:rPr lang="en-US" dirty="0" smtClean="0"/>
              <a:t>-</a:t>
            </a:r>
            <a:r>
              <a:rPr dirty="0" smtClean="0"/>
              <a:t>Net</a:t>
            </a:r>
            <a:r>
              <a:rPr dirty="0"/>
              <a:t>, Vision Transformers, and tuning.</a:t>
            </a:r>
          </a:p>
          <a:p>
            <a:r>
              <a:rPr dirty="0"/>
              <a:t>Implement interpretability tools (Grad-CAM).</a:t>
            </a:r>
          </a:p>
          <a:p>
            <a:r>
              <a:rPr dirty="0"/>
              <a:t>Acknowledgments: PyTorch, torchvision, </a:t>
            </a:r>
            <a:r>
              <a:rPr dirty="0" smtClean="0"/>
              <a:t> </a:t>
            </a:r>
            <a:r>
              <a:rPr dirty="0"/>
              <a:t>Google </a:t>
            </a:r>
            <a:r>
              <a:rPr dirty="0" err="1" smtClean="0"/>
              <a:t>Co</a:t>
            </a:r>
            <a:r>
              <a:rPr lang="en-US" dirty="0" err="1" smtClean="0"/>
              <a:t>lab</a:t>
            </a:r>
            <a:r>
              <a:rPr dirty="0" smtClean="0"/>
              <a:t>.</a:t>
            </a:r>
            <a:endParaRPr dirty="0"/>
          </a:p>
          <a:p>
            <a:r>
              <a:rPr dirty="0"/>
              <a:t>Special thanks to MSc AI faculty and mentors.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578</Words>
  <Application>Microsoft Office PowerPoint</Application>
  <PresentationFormat>On-screen Show (4:3)</PresentationFormat>
  <Paragraphs>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Raavi</vt:lpstr>
      <vt:lpstr>Times New Roman</vt:lpstr>
      <vt:lpstr>Office Theme</vt:lpstr>
      <vt:lpstr>PowerPoint Presentation</vt:lpstr>
      <vt:lpstr>Introduction</vt:lpstr>
      <vt:lpstr>Objectives / Goals</vt:lpstr>
      <vt:lpstr>METHODOLOGY</vt:lpstr>
      <vt:lpstr>PowerPoint Presentation</vt:lpstr>
      <vt:lpstr>Implementation / Process</vt:lpstr>
      <vt:lpstr>Model 1: Multilayer Perceptron (MLP)</vt:lpstr>
      <vt:lpstr>Model 2: Convolutional Neural Network (CNN)</vt:lpstr>
      <vt:lpstr>Model 3: ConvNeXt-Tiny (Transfer Learning)</vt:lpstr>
      <vt:lpstr>Results / Findings</vt:lpstr>
      <vt:lpstr>LOSS &amp; ACCURACY CURVE OF MLP,CNN, ConvNeXT</vt:lpstr>
      <vt:lpstr>OVERALL COMPARISON CHART</vt:lpstr>
      <vt:lpstr>Discussion </vt:lpstr>
      <vt:lpstr>Conclusion </vt:lpstr>
      <vt:lpstr>Future Work / 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Fashion-MNIST Image Classification using Deep Learning</dc:title>
  <dc:subject/>
  <dc:creator>Rjanpreet kaur</dc:creator>
  <cp:keywords/>
  <dc:description>generated using python-pptx</dc:description>
  <cp:lastModifiedBy>Rjanpreet .</cp:lastModifiedBy>
  <cp:revision>18</cp:revision>
  <dcterms:created xsi:type="dcterms:W3CDTF">2013-01-27T09:14:16Z</dcterms:created>
  <dcterms:modified xsi:type="dcterms:W3CDTF">2025-11-04T11:15:18Z</dcterms:modified>
  <cp:category/>
</cp:coreProperties>
</file>